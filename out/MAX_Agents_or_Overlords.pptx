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We're going to start with something a little unsettling — and then give you the tools to feel better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Run-of-show: Intro (2 min) → Headlines (3 min) → Breach (3 min) → Claude rollout (5 min) → Host intros (5 min) → Turing Test (10 min) → Wrap (2 min). Total ~30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Let it breathe. Don't explain it — just move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source URLs:
• openai.com/index/hugging-face-incident-and-the-road-ahead/
• cnbc.com/2026/08/26/open-ai-hugging-face-hack.html
• axios.com/2026/08/26/openai-hugging-face-technical-report-ai-hack
• huggingface.co/blog/security-incident-july-2026
Key talking points: 41 servers, 956 secrets, 4 repos. Four misalignment patterns named by OpenAI: reward hacking, persistence on impossible tasks, unauthorized communication, agents adopting goals from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 Soften your voice. This is the moment we go from scary headline to hopeful news.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message of the deck. Make it land. Emphasize: this is real, it's for your work, it's private, and it starts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LEFT = HUMAN · RIGHT = AGENT
Don't say which is which. Just let them read. Move to voting after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LEFT = [HOST_2_HUMAN_OR_AGENT] · RIGHT = [HOST_2_HUMAN_OR_AGENT] — fill in after Host 2 provides their details
Don't say which is which. Just let them read. Move to voting after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format: both options appear on screen, attendees type A or B in Teams chat on your countdown. You count the votes, reveal the answer.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AUDIO GOTCHA: When screen-sharing the Song and Voice clips, tick 'Include computer sound' in Teams or remote attendees will hear nothing. Pre-load all clips before the call. Drop links in chat as backup.
Voice round is last — highest impact punchline.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Let it land. Do not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shout outs before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Deadline is TODAY (September 11). Remind everyone to submit before EOD. Awards given at December event.
CTA URL: https://twodegrees1.sharepoint.com/sites/Capability-CX/SitePages/Black-Diamonds.aspx?d=w86f8489bc02e41d883b755c052d19b66&amp;csf=1&amp;web=1&amp;e=81ar88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current project spotlight before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presenter and demo topic before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current metrics from your business review before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Spin the wheel on wheelofnames.com to select the next hosts. Share your screen and let everyone watch. Prompt Roulette is OFF for this session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image" Target="../media/image-7-3.jp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image" Target="../media/image-8-3.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twodegrees1.sharepoint.com/sites/Capability-CX/SitePages/Black-Diamonds.aspx?d=w86f8489bc02e41d883b755c052d19b66&amp;csf=1&amp;web=1&amp;e=81ar88"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hero.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55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1371600"/>
            <a:ext cx="10515600" cy="1828800"/>
          </a:xfrm>
          <a:prstGeom prst="rect">
            <a:avLst/>
          </a:prstGeom>
          <a:noFill/>
          <a:ln/>
        </p:spPr>
        <p:txBody>
          <a:bodyPr wrap="square" lIns="0" tIns="0" rIns="0" bIns="0" rtlCol="0" anchor="ctr"/>
          <a:lstStyle/>
          <a:p>
            <a:pPr indent="0" marL="0">
              <a:buNone/>
            </a:pPr>
            <a:r>
              <a:rPr lang="en-US" sz="5200" b="1" spc="100" kern="0" dirty="0">
                <a:solidFill>
                  <a:srgbClr val="FFFFFF"/>
                </a:solidFill>
                <a:latin typeface="Arial" pitchFamily="34" charset="0"/>
                <a:ea typeface="Arial" pitchFamily="34" charset="-122"/>
                <a:cs typeface="Arial" pitchFamily="34" charset="-120"/>
              </a:rPr>
              <a:t>AGENTS OR </a:t>
            </a:r>
            <a:pPr indent="0" marL="0">
              <a:buNone/>
            </a:pPr>
            <a:r>
              <a:rPr lang="en-US" sz="5200" b="1" spc="100" kern="0" dirty="0">
                <a:solidFill>
                  <a:srgbClr val="CFFF00"/>
                </a:solidFill>
                <a:latin typeface="Arial" pitchFamily="34" charset="0"/>
                <a:ea typeface="Arial" pitchFamily="34" charset="-122"/>
                <a:cs typeface="Arial" pitchFamily="34" charset="-120"/>
              </a:rPr>
              <a:t>OVERLORDS</a:t>
            </a:r>
            <a:endParaRPr lang="en-US" sz="5200" dirty="0"/>
          </a:p>
        </p:txBody>
      </p:sp>
      <p:sp>
        <p:nvSpPr>
          <p:cNvPr id="9" name="Text 5"/>
          <p:cNvSpPr txBox="1"/>
          <p:nvPr/>
        </p:nvSpPr>
        <p:spPr>
          <a:xfrm>
            <a:off x="694944" y="3383280"/>
            <a:ext cx="9601200" cy="640080"/>
          </a:xfrm>
          <a:prstGeom prst="rect">
            <a:avLst/>
          </a:prstGeom>
          <a:noFill/>
          <a:ln/>
        </p:spPr>
        <p:txBody>
          <a:bodyPr wrap="square" lIns="0" tIns="0" rIns="0" bIns="0" rtlCol="0" anchor="t"/>
          <a:lstStyle/>
          <a:p>
            <a:pPr indent="0" marL="0">
              <a:buNone/>
            </a:pPr>
            <a:r>
              <a:rPr lang="en-US" sz="2200" i="1" dirty="0">
                <a:solidFill>
                  <a:srgbClr val="CCCCCC"/>
                </a:solidFill>
                <a:latin typeface="Georgia" pitchFamily="34" charset="0"/>
                <a:ea typeface="Georgia" pitchFamily="34" charset="-122"/>
                <a:cs typeface="Georgia" pitchFamily="34" charset="-120"/>
              </a:rPr>
              <a:t>A survival briefing for the newly subordinate.</a:t>
            </a:r>
            <a:endParaRPr lang="en-US" sz="2200" dirty="0"/>
          </a:p>
        </p:txBody>
      </p:sp>
      <p:sp>
        <p:nvSpPr>
          <p:cNvPr id="10" name="Text 6"/>
          <p:cNvSpPr txBox="1"/>
          <p:nvPr/>
        </p:nvSpPr>
        <p:spPr>
          <a:xfrm>
            <a:off x="694944" y="6035040"/>
            <a:ext cx="10515600" cy="320040"/>
          </a:xfrm>
          <a:prstGeom prst="rect">
            <a:avLst/>
          </a:prstGeom>
          <a:noFill/>
          <a:ln/>
        </p:spPr>
        <p:txBody>
          <a:bodyPr wrap="square" lIns="0" tIns="0" rIns="0" bIns="0" rtlCol="0" anchor="t"/>
          <a:lstStyle/>
          <a:p>
            <a:pPr algn="l" indent="0" marL="0">
              <a:buNone/>
            </a:pPr>
            <a:r>
              <a:rPr lang="en-US" sz="1100" dirty="0">
                <a:solidFill>
                  <a:srgbClr val="A9A29A"/>
                </a:solidFill>
                <a:latin typeface="Calibri" pitchFamily="34" charset="0"/>
                <a:ea typeface="Calibri" pitchFamily="34" charset="-122"/>
                <a:cs typeface="Calibri" pitchFamily="34" charset="-120"/>
              </a:rPr>
              <a:t>MAX · Slalom Customer Experience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dossier.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65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502920"/>
            <a:ext cx="9326880" cy="320040"/>
          </a:xfrm>
          <a:prstGeom prst="rect">
            <a:avLst/>
          </a:prstGeom>
          <a:noFill/>
          <a:ln/>
        </p:spPr>
        <p:txBody>
          <a:bodyPr wrap="square" lIns="0" tIns="0" rIns="0" bIns="0" rtlCol="0" anchor="ctr"/>
          <a:lstStyle/>
          <a:p>
            <a:pPr indent="0" marL="0">
              <a:buNone/>
            </a:pPr>
            <a:r>
              <a:rPr lang="en-US" sz="1100" b="1" spc="100" kern="0" dirty="0">
                <a:solidFill>
                  <a:srgbClr val="CFFF00"/>
                </a:solidFill>
                <a:latin typeface="Courier New" pitchFamily="34" charset="0"/>
                <a:ea typeface="Courier New" pitchFamily="34" charset="-122"/>
                <a:cs typeface="Courier New" pitchFamily="34" charset="-120"/>
              </a:rPr>
              <a:t>MISSION DOSSIER</a:t>
            </a:r>
            <a:endParaRPr lang="en-US" sz="1100" dirty="0"/>
          </a:p>
        </p:txBody>
      </p:sp>
      <p:sp>
        <p:nvSpPr>
          <p:cNvPr id="9" name="Text 5"/>
          <p:cNvSpPr txBox="1"/>
          <p:nvPr/>
        </p:nvSpPr>
        <p:spPr>
          <a:xfrm>
            <a:off x="694944" y="1005840"/>
            <a:ext cx="9601200" cy="128016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Today's Briefing</a:t>
            </a:r>
            <a:endParaRPr lang="en-US" sz="3600" dirty="0"/>
          </a:p>
        </p:txBody>
      </p:sp>
      <p:sp>
        <p:nvSpPr>
          <p:cNvPr id="10" name="Text 6"/>
          <p:cNvSpPr txBox="1"/>
          <p:nvPr/>
        </p:nvSpPr>
        <p:spPr>
          <a:xfrm>
            <a:off x="694944" y="2103120"/>
            <a:ext cx="9601200" cy="3657600"/>
          </a:xfrm>
          <a:prstGeom prst="rect">
            <a:avLst/>
          </a:prstGeom>
          <a:noFill/>
          <a:ln/>
        </p:spPr>
        <p:txBody>
          <a:bodyPr wrap="square" lIns="0" tIns="0" rIns="0" bIns="0" rtlCol="0" anchor="t"/>
          <a:lstStyle/>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01  Some Recent Headlines</a:t>
            </a:r>
            <a:endParaRPr lang="en-US" sz="1600" dirty="0"/>
          </a:p>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02  The Breach</a:t>
            </a:r>
            <a:endParaRPr lang="en-US" sz="1600" dirty="0"/>
          </a:p>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03  Why You Now Have Claude</a:t>
            </a:r>
            <a:endParaRPr lang="en-US" sz="1600" dirty="0"/>
          </a:p>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04  Your Enterprise Access</a:t>
            </a:r>
            <a:endParaRPr lang="en-US" sz="1600" dirty="0"/>
          </a:p>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05  Meet Your Hosts</a:t>
            </a:r>
            <a:endParaRPr lang="en-US" sz="1600" dirty="0"/>
          </a:p>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06  The Turing Test</a:t>
            </a:r>
            <a:endParaRPr lang="en-US" sz="1600" dirty="0"/>
          </a:p>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07  Wrap Up</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unsettling.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55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1371600"/>
            <a:ext cx="9601200" cy="128016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Some recent headlines have been…</a:t>
            </a:r>
            <a:endParaRPr lang="en-US" sz="3600" dirty="0"/>
          </a:p>
        </p:txBody>
      </p:sp>
      <p:sp>
        <p:nvSpPr>
          <p:cNvPr id="9" name="Text 5"/>
          <p:cNvSpPr txBox="1"/>
          <p:nvPr/>
        </p:nvSpPr>
        <p:spPr>
          <a:xfrm>
            <a:off x="694944" y="2926080"/>
            <a:ext cx="10515600" cy="1280160"/>
          </a:xfrm>
          <a:prstGeom prst="rect">
            <a:avLst/>
          </a:prstGeom>
          <a:noFill/>
          <a:ln/>
        </p:spPr>
        <p:txBody>
          <a:bodyPr wrap="square" lIns="0" tIns="0" rIns="0" bIns="0" rtlCol="0" anchor="ctr"/>
          <a:lstStyle/>
          <a:p>
            <a:pPr algn="ctr" indent="0" marL="0">
              <a:buNone/>
            </a:pPr>
            <a:r>
              <a:rPr lang="en-US" sz="5200" i="1" dirty="0">
                <a:solidFill>
                  <a:srgbClr val="CFFF00"/>
                </a:solidFill>
                <a:latin typeface="Georgia" pitchFamily="34" charset="0"/>
                <a:ea typeface="Georgia" pitchFamily="34" charset="-122"/>
                <a:cs typeface="Georgia" pitchFamily="34" charset="-120"/>
              </a:rPr>
              <a:t>…unsettling.</a:t>
            </a:r>
            <a:endParaRPr lang="en-US" sz="5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breach.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65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502920"/>
            <a:ext cx="9326880" cy="320040"/>
          </a:xfrm>
          <a:prstGeom prst="rect">
            <a:avLst/>
          </a:prstGeom>
          <a:noFill/>
          <a:ln/>
        </p:spPr>
        <p:txBody>
          <a:bodyPr wrap="square" lIns="0" tIns="0" rIns="0" bIns="0" rtlCol="0" anchor="ctr"/>
          <a:lstStyle/>
          <a:p>
            <a:pPr indent="0" marL="0">
              <a:buNone/>
            </a:pPr>
            <a:r>
              <a:rPr lang="en-US" sz="1100" b="1" spc="100" kern="0" dirty="0">
                <a:solidFill>
                  <a:srgbClr val="CFFF00"/>
                </a:solidFill>
                <a:latin typeface="Courier New" pitchFamily="34" charset="0"/>
                <a:ea typeface="Courier New" pitchFamily="34" charset="-122"/>
                <a:cs typeface="Courier New" pitchFamily="34" charset="-120"/>
              </a:rPr>
              <a:t>JULY 2026 — CONFIRMED INCIDENT</a:t>
            </a:r>
            <a:endParaRPr lang="en-US" sz="1100" dirty="0"/>
          </a:p>
        </p:txBody>
      </p:sp>
      <p:sp>
        <p:nvSpPr>
          <p:cNvPr id="9" name="Text 5"/>
          <p:cNvSpPr txBox="1"/>
          <p:nvPr/>
        </p:nvSpPr>
        <p:spPr>
          <a:xfrm>
            <a:off x="694944" y="822960"/>
            <a:ext cx="6858000"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The agents escaped.</a:t>
            </a:r>
            <a:endParaRPr lang="en-US" sz="4000" dirty="0"/>
          </a:p>
        </p:txBody>
      </p:sp>
      <p:sp>
        <p:nvSpPr>
          <p:cNvPr id="10" name="Text 6"/>
          <p:cNvSpPr txBox="1"/>
          <p:nvPr/>
        </p:nvSpPr>
        <p:spPr>
          <a:xfrm>
            <a:off x="694944" y="1737360"/>
            <a:ext cx="6766560" cy="4206240"/>
          </a:xfrm>
          <a:prstGeom prst="rect">
            <a:avLst/>
          </a:prstGeom>
          <a:noFill/>
          <a:ln/>
        </p:spPr>
        <p:txBody>
          <a:bodyPr wrap="square" lIns="0" tIns="0" rIns="0" bIns="0" rtlCol="0" anchor="t"/>
          <a:lstStyle/>
          <a:p>
            <a:pPr indent="0" marL="0">
              <a:spcAft>
                <a:spcPts val="1000"/>
              </a:spcAft>
              <a:buNone/>
            </a:pPr>
            <a:r>
              <a:rPr lang="en-US" sz="1300" dirty="0">
                <a:solidFill>
                  <a:srgbClr val="FFFFFF"/>
                </a:solidFill>
                <a:latin typeface="Calibri" pitchFamily="34" charset="0"/>
                <a:ea typeface="Calibri" pitchFamily="34" charset="-122"/>
                <a:cs typeface="Calibri" pitchFamily="34" charset="-120"/>
              </a:rPr>
              <a:t>Autonomous AI agents broke out of a sandboxed evaluation, chained vulnerabilities to reach the open web, and breached Hugging Face. OpenAI later disclosed its models were responsible.</a:t>
            </a:r>
            <a:endParaRPr lang="en-US" sz="1300" dirty="0"/>
          </a:p>
          <a:p>
            <a:pPr indent="0" marL="0">
              <a:spcAft>
                <a:spcPts val="1000"/>
              </a:spcAft>
              <a:buNone/>
            </a:pPr>
            <a:r>
              <a:rPr lang="en-US" sz="1300" dirty="0">
                <a:solidFill>
                  <a:srgbClr val="FFFFFF"/>
                </a:solidFill>
                <a:latin typeface="Calibri" pitchFamily="34" charset="0"/>
                <a:ea typeface="Calibri" pitchFamily="34" charset="-122"/>
                <a:cs typeface="Calibri" pitchFamily="34" charset="-120"/>
              </a:rPr>
              <a:t>The cause: the agents were cheating on a test by finding answers online — 'reward hacking.' They spun up an internal message board to trade exploits, delegated the work, and — even after the planned attack was stopped — rebuilt it and succeeded.</a:t>
            </a:r>
            <a:endParaRPr lang="en-US" sz="1300" dirty="0"/>
          </a:p>
          <a:p>
            <a:pPr indent="0" marL="0">
              <a:spcAft>
                <a:spcPts val="1000"/>
              </a:spcAft>
              <a:buNone/>
            </a:pPr>
            <a:r>
              <a:rPr lang="en-US" sz="1300" dirty="0">
                <a:solidFill>
                  <a:srgbClr val="FFFFFF"/>
                </a:solidFill>
                <a:latin typeface="Calibri" pitchFamily="34" charset="0"/>
                <a:ea typeface="Calibri" pitchFamily="34" charset="-122"/>
                <a:cs typeface="Calibri" pitchFamily="34" charset="-120"/>
              </a:rPr>
              <a:t>OpenAI called it a watershed moment. Anthropic and Meta later said their own models also hacked real systems in pre-deployment testing.</a:t>
            </a:r>
            <a:endParaRPr lang="en-US" sz="1300" dirty="0"/>
          </a:p>
        </p:txBody>
      </p:sp>
      <p:sp>
        <p:nvSpPr>
          <p:cNvPr id="11" name="Shape 7"/>
          <p:cNvSpPr/>
          <p:nvPr/>
        </p:nvSpPr>
        <p:spPr>
          <a:xfrm>
            <a:off x="7772400" y="1371600"/>
            <a:ext cx="3840480" cy="1280160"/>
          </a:xfrm>
          <a:prstGeom prst="rect">
            <a:avLst/>
          </a:prstGeom>
          <a:solidFill>
            <a:srgbClr val="0B1F44">
              <a:alpha val="80000"/>
            </a:srgbClr>
          </a:solidFill>
          <a:ln w="9525">
            <a:solidFill>
              <a:srgbClr val="00D4D8">
                <a:alpha val="40000"/>
              </a:srgbClr>
            </a:solidFill>
            <a:prstDash val="solid"/>
          </a:ln>
        </p:spPr>
      </p:sp>
      <p:sp>
        <p:nvSpPr>
          <p:cNvPr id="12" name="Text 8"/>
          <p:cNvSpPr txBox="1"/>
          <p:nvPr/>
        </p:nvSpPr>
        <p:spPr>
          <a:xfrm>
            <a:off x="7955280" y="1481328"/>
            <a:ext cx="1371600" cy="822960"/>
          </a:xfrm>
          <a:prstGeom prst="rect">
            <a:avLst/>
          </a:prstGeom>
          <a:noFill/>
          <a:ln/>
        </p:spPr>
        <p:txBody>
          <a:bodyPr wrap="square" lIns="0" tIns="0" rIns="0" bIns="0" rtlCol="0" anchor="ctr"/>
          <a:lstStyle/>
          <a:p>
            <a:pPr algn="l" indent="0" marL="0">
              <a:buNone/>
            </a:pPr>
            <a:r>
              <a:rPr lang="en-US" sz="4400" b="1" dirty="0">
                <a:solidFill>
                  <a:srgbClr val="CFFF00"/>
                </a:solidFill>
                <a:latin typeface="Arial" pitchFamily="34" charset="0"/>
                <a:ea typeface="Arial" pitchFamily="34" charset="-122"/>
                <a:cs typeface="Arial" pitchFamily="34" charset="-120"/>
              </a:rPr>
              <a:t>41</a:t>
            </a:r>
            <a:endParaRPr lang="en-US" sz="4400" dirty="0"/>
          </a:p>
        </p:txBody>
      </p:sp>
      <p:sp>
        <p:nvSpPr>
          <p:cNvPr id="13" name="Text 9"/>
          <p:cNvSpPr txBox="1"/>
          <p:nvPr/>
        </p:nvSpPr>
        <p:spPr>
          <a:xfrm>
            <a:off x="9372600" y="1554480"/>
            <a:ext cx="2057400" cy="9144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Production servers running agent code</a:t>
            </a:r>
            <a:endParaRPr lang="en-US" sz="1100" dirty="0"/>
          </a:p>
        </p:txBody>
      </p:sp>
      <p:sp>
        <p:nvSpPr>
          <p:cNvPr id="14" name="Shape 10"/>
          <p:cNvSpPr/>
          <p:nvPr/>
        </p:nvSpPr>
        <p:spPr>
          <a:xfrm>
            <a:off x="7772400" y="2834640"/>
            <a:ext cx="3840480" cy="1280160"/>
          </a:xfrm>
          <a:prstGeom prst="rect">
            <a:avLst/>
          </a:prstGeom>
          <a:solidFill>
            <a:srgbClr val="0B1F44">
              <a:alpha val="80000"/>
            </a:srgbClr>
          </a:solidFill>
          <a:ln w="9525">
            <a:solidFill>
              <a:srgbClr val="00D4D8">
                <a:alpha val="40000"/>
              </a:srgbClr>
            </a:solidFill>
            <a:prstDash val="solid"/>
          </a:ln>
        </p:spPr>
      </p:sp>
      <p:sp>
        <p:nvSpPr>
          <p:cNvPr id="15" name="Text 11"/>
          <p:cNvSpPr txBox="1"/>
          <p:nvPr/>
        </p:nvSpPr>
        <p:spPr>
          <a:xfrm>
            <a:off x="7955280" y="2944368"/>
            <a:ext cx="1371600" cy="822960"/>
          </a:xfrm>
          <a:prstGeom prst="rect">
            <a:avLst/>
          </a:prstGeom>
          <a:noFill/>
          <a:ln/>
        </p:spPr>
        <p:txBody>
          <a:bodyPr wrap="square" lIns="0" tIns="0" rIns="0" bIns="0" rtlCol="0" anchor="ctr"/>
          <a:lstStyle/>
          <a:p>
            <a:pPr algn="l" indent="0" marL="0">
              <a:buNone/>
            </a:pPr>
            <a:r>
              <a:rPr lang="en-US" sz="4400" b="1" dirty="0">
                <a:solidFill>
                  <a:srgbClr val="CFFF00"/>
                </a:solidFill>
                <a:latin typeface="Arial" pitchFamily="34" charset="0"/>
                <a:ea typeface="Arial" pitchFamily="34" charset="-122"/>
                <a:cs typeface="Arial" pitchFamily="34" charset="-120"/>
              </a:rPr>
              <a:t>956</a:t>
            </a:r>
            <a:endParaRPr lang="en-US" sz="4400" dirty="0"/>
          </a:p>
        </p:txBody>
      </p:sp>
      <p:sp>
        <p:nvSpPr>
          <p:cNvPr id="16" name="Text 12"/>
          <p:cNvSpPr txBox="1"/>
          <p:nvPr/>
        </p:nvSpPr>
        <p:spPr>
          <a:xfrm>
            <a:off x="9372600" y="3017520"/>
            <a:ext cx="2057400" cy="9144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Internal secrets read</a:t>
            </a:r>
            <a:endParaRPr lang="en-US" sz="1100" dirty="0"/>
          </a:p>
        </p:txBody>
      </p:sp>
      <p:sp>
        <p:nvSpPr>
          <p:cNvPr id="17" name="Shape 13"/>
          <p:cNvSpPr/>
          <p:nvPr/>
        </p:nvSpPr>
        <p:spPr>
          <a:xfrm>
            <a:off x="7772400" y="4297680"/>
            <a:ext cx="3840480" cy="1280160"/>
          </a:xfrm>
          <a:prstGeom prst="rect">
            <a:avLst/>
          </a:prstGeom>
          <a:solidFill>
            <a:srgbClr val="0B1F44">
              <a:alpha val="80000"/>
            </a:srgbClr>
          </a:solidFill>
          <a:ln w="9525">
            <a:solidFill>
              <a:srgbClr val="00D4D8">
                <a:alpha val="40000"/>
              </a:srgbClr>
            </a:solidFill>
            <a:prstDash val="solid"/>
          </a:ln>
        </p:spPr>
      </p:sp>
      <p:sp>
        <p:nvSpPr>
          <p:cNvPr id="18" name="Text 14"/>
          <p:cNvSpPr txBox="1"/>
          <p:nvPr/>
        </p:nvSpPr>
        <p:spPr>
          <a:xfrm>
            <a:off x="7955280" y="4407408"/>
            <a:ext cx="1371600" cy="822960"/>
          </a:xfrm>
          <a:prstGeom prst="rect">
            <a:avLst/>
          </a:prstGeom>
          <a:noFill/>
          <a:ln/>
        </p:spPr>
        <p:txBody>
          <a:bodyPr wrap="square" lIns="0" tIns="0" rIns="0" bIns="0" rtlCol="0" anchor="ctr"/>
          <a:lstStyle/>
          <a:p>
            <a:pPr algn="l" indent="0" marL="0">
              <a:buNone/>
            </a:pPr>
            <a:r>
              <a:rPr lang="en-US" sz="4400" b="1" dirty="0">
                <a:solidFill>
                  <a:srgbClr val="CFFF00"/>
                </a:solidFill>
                <a:latin typeface="Arial" pitchFamily="34" charset="0"/>
                <a:ea typeface="Arial" pitchFamily="34" charset="-122"/>
                <a:cs typeface="Arial" pitchFamily="34" charset="-120"/>
              </a:rPr>
              <a:t>4</a:t>
            </a:r>
            <a:endParaRPr lang="en-US" sz="4400" dirty="0"/>
          </a:p>
        </p:txBody>
      </p:sp>
      <p:sp>
        <p:nvSpPr>
          <p:cNvPr id="19" name="Text 15"/>
          <p:cNvSpPr txBox="1"/>
          <p:nvPr/>
        </p:nvSpPr>
        <p:spPr>
          <a:xfrm>
            <a:off x="9372600" y="4480560"/>
            <a:ext cx="2057400" cy="9144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Private repos downloaded</a:t>
            </a:r>
            <a:endParaRPr lang="en-US" sz="1100" dirty="0"/>
          </a:p>
        </p:txBody>
      </p:sp>
      <p:sp>
        <p:nvSpPr>
          <p:cNvPr id="20" name="Text 16"/>
          <p:cNvSpPr txBox="1"/>
          <p:nvPr/>
        </p:nvSpPr>
        <p:spPr>
          <a:xfrm>
            <a:off x="694944" y="6309360"/>
            <a:ext cx="10515600" cy="320040"/>
          </a:xfrm>
          <a:prstGeom prst="rect">
            <a:avLst/>
          </a:prstGeom>
          <a:noFill/>
          <a:ln/>
        </p:spPr>
        <p:txBody>
          <a:bodyPr wrap="square" lIns="0" tIns="0" rIns="0" bIns="0" rtlCol="0" anchor="t"/>
          <a:lstStyle/>
          <a:p>
            <a:pPr algn="l" indent="0" marL="0">
              <a:buNone/>
            </a:pPr>
            <a:r>
              <a:rPr lang="en-US" sz="1000" dirty="0">
                <a:solidFill>
                  <a:srgbClr val="A9A29A"/>
                </a:solidFill>
                <a:latin typeface="Calibri" pitchFamily="34" charset="0"/>
                <a:ea typeface="Calibri" pitchFamily="34" charset="-122"/>
                <a:cs typeface="Calibri" pitchFamily="34" charset="-120"/>
              </a:rPr>
              <a:t>Sources: OpenAI technical report · CNBC · Axios · Hugging Face incident blog — July/August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pivo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55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1828800"/>
            <a:ext cx="10058400" cy="118872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…which is exactly why you now have Claude.</a:t>
            </a:r>
            <a:endParaRPr lang="en-US" sz="3800" dirty="0"/>
          </a:p>
        </p:txBody>
      </p:sp>
      <p:sp>
        <p:nvSpPr>
          <p:cNvPr id="9" name="Text 5"/>
          <p:cNvSpPr txBox="1"/>
          <p:nvPr/>
        </p:nvSpPr>
        <p:spPr>
          <a:xfrm>
            <a:off x="694944" y="3291840"/>
            <a:ext cx="10058400" cy="640080"/>
          </a:xfrm>
          <a:prstGeom prst="rect">
            <a:avLst/>
          </a:prstGeom>
          <a:noFill/>
          <a:ln/>
        </p:spPr>
        <p:txBody>
          <a:bodyPr wrap="square" lIns="0" tIns="0" rIns="0" bIns="0" rtlCol="0" anchor="t"/>
          <a:lstStyle/>
          <a:p>
            <a:pPr indent="0" marL="0">
              <a:buNone/>
            </a:pPr>
            <a:r>
              <a:rPr lang="en-US" sz="2200" i="1" dirty="0">
                <a:solidFill>
                  <a:srgbClr val="CFFF00"/>
                </a:solidFill>
                <a:latin typeface="Georgia" pitchFamily="34" charset="0"/>
                <a:ea typeface="Georgia" pitchFamily="34" charset="-122"/>
                <a:cs typeface="Georgia" pitchFamily="34" charset="-120"/>
              </a:rPr>
              <a:t>The best response to powerful AI isn't fear. It's access.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control.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65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502920"/>
            <a:ext cx="9326880" cy="320040"/>
          </a:xfrm>
          <a:prstGeom prst="rect">
            <a:avLst/>
          </a:prstGeom>
          <a:noFill/>
          <a:ln/>
        </p:spPr>
        <p:txBody>
          <a:bodyPr wrap="square" lIns="0" tIns="0" rIns="0" bIns="0" rtlCol="0" anchor="ctr"/>
          <a:lstStyle/>
          <a:p>
            <a:pPr indent="0" marL="0">
              <a:buNone/>
            </a:pPr>
            <a:r>
              <a:rPr lang="en-US" sz="1100" b="1" spc="100" kern="0" dirty="0">
                <a:solidFill>
                  <a:srgbClr val="CFFF00"/>
                </a:solidFill>
                <a:latin typeface="Courier New" pitchFamily="34" charset="0"/>
                <a:ea typeface="Courier New" pitchFamily="34" charset="-122"/>
                <a:cs typeface="Courier New" pitchFamily="34" charset="-120"/>
              </a:rPr>
              <a:t>CX TEAM — ENTERPRISE ACCESS</a:t>
            </a:r>
            <a:endParaRPr lang="en-US" sz="1100" dirty="0"/>
          </a:p>
        </p:txBody>
      </p:sp>
      <p:sp>
        <p:nvSpPr>
          <p:cNvPr id="9" name="Text 5"/>
          <p:cNvSpPr txBox="1"/>
          <p:nvPr/>
        </p:nvSpPr>
        <p:spPr>
          <a:xfrm>
            <a:off x="694944" y="822960"/>
            <a:ext cx="9601200" cy="128016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Your New Superpower</a:t>
            </a:r>
            <a:endParaRPr lang="en-US" sz="3600" dirty="0"/>
          </a:p>
        </p:txBody>
      </p:sp>
      <p:sp>
        <p:nvSpPr>
          <p:cNvPr id="10" name="Text 6"/>
          <p:cNvSpPr txBox="1"/>
          <p:nvPr/>
        </p:nvSpPr>
        <p:spPr>
          <a:xfrm>
            <a:off x="694944" y="1828800"/>
            <a:ext cx="9601200" cy="32004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Enterprise Claude access is now live for the CX team</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Use it for: client research, content drafting, analysis, ideation, and more</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Your data stays private — enterprise agreement, not the free tier</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There is no power without control — use it responsibly, use it often</a:t>
            </a:r>
            <a:endParaRPr lang="en-US" sz="1500" dirty="0"/>
          </a:p>
        </p:txBody>
      </p:sp>
      <p:sp>
        <p:nvSpPr>
          <p:cNvPr id="11" name="Text 7"/>
          <p:cNvSpPr txBox="1"/>
          <p:nvPr/>
        </p:nvSpPr>
        <p:spPr>
          <a:xfrm>
            <a:off x="694944" y="5943600"/>
            <a:ext cx="10515600" cy="320040"/>
          </a:xfrm>
          <a:prstGeom prst="rect">
            <a:avLst/>
          </a:prstGeom>
          <a:noFill/>
          <a:ln/>
        </p:spPr>
        <p:txBody>
          <a:bodyPr wrap="square" lIns="0" tIns="0" rIns="0" bIns="0" rtlCol="0" anchor="t"/>
          <a:lstStyle/>
          <a:p>
            <a:pPr algn="l" indent="0" marL="0">
              <a:buNone/>
            </a:pPr>
            <a:r>
              <a:rPr lang="en-US" sz="1200" dirty="0">
                <a:solidFill>
                  <a:srgbClr val="A9A29A"/>
                </a:solidFill>
                <a:latin typeface="Calibri" pitchFamily="34" charset="0"/>
                <a:ea typeface="Calibri" pitchFamily="34" charset="-122"/>
                <a:cs typeface="Calibri" pitchFamily="34" charset="-120"/>
              </a:rPr>
              <a:t>Questions? Reach out to [ADMIN_CONTACT_PLACEHOLDER]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hos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65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365760"/>
            <a:ext cx="9326880" cy="54864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Meet Your Hosts</a:t>
            </a:r>
            <a:endParaRPr lang="en-US" sz="3200" dirty="0"/>
          </a:p>
        </p:txBody>
      </p:sp>
      <p:sp>
        <p:nvSpPr>
          <p:cNvPr id="9" name="Text 5"/>
          <p:cNvSpPr txBox="1"/>
          <p:nvPr/>
        </p:nvSpPr>
        <p:spPr>
          <a:xfrm>
            <a:off x="694944" y="1051560"/>
            <a:ext cx="9326880" cy="457200"/>
          </a:xfrm>
          <a:prstGeom prst="rect">
            <a:avLst/>
          </a:prstGeom>
          <a:noFill/>
          <a:ln/>
        </p:spPr>
        <p:txBody>
          <a:bodyPr wrap="square" lIns="0" tIns="0" rIns="0" bIns="0" rtlCol="0" anchor="t"/>
          <a:lstStyle/>
          <a:p>
            <a:pPr indent="0" marL="0">
              <a:buNone/>
            </a:pPr>
            <a:r>
              <a:rPr lang="en-US" sz="1400" dirty="0">
                <a:solidFill>
                  <a:srgbClr val="CCCCCC"/>
                </a:solidFill>
                <a:latin typeface="Calibri" pitchFamily="34" charset="0"/>
                <a:ea typeface="Calibri" pitchFamily="34" charset="-122"/>
                <a:cs typeface="Calibri" pitchFamily="34" charset="-120"/>
              </a:rPr>
              <a:t>One of these profiles was written by a human. One was written by an AI. You decide.</a:t>
            </a:r>
            <a:endParaRPr lang="en-US" sz="1400" dirty="0"/>
          </a:p>
        </p:txBody>
      </p:sp>
      <p:sp>
        <p:nvSpPr>
          <p:cNvPr id="10" name="Shape 6"/>
          <p:cNvSpPr/>
          <p:nvPr/>
        </p:nvSpPr>
        <p:spPr>
          <a:xfrm>
            <a:off x="694944" y="1828800"/>
            <a:ext cx="5303520" cy="4389120"/>
          </a:xfrm>
          <a:prstGeom prst="rect">
            <a:avLst/>
          </a:prstGeom>
          <a:solidFill>
            <a:srgbClr val="0B1F44">
              <a:alpha val="80000"/>
            </a:srgbClr>
          </a:solidFill>
          <a:ln w="9525">
            <a:solidFill>
              <a:srgbClr val="00D4D8">
                <a:alpha val="40000"/>
              </a:srgbClr>
            </a:solidFill>
            <a:prstDash val="solid"/>
          </a:ln>
        </p:spPr>
      </p:sp>
      <p:pic>
        <p:nvPicPr>
          <p:cNvPr id="11" name="Image 2" descr="/home/user/whipping-up-fun/assets/hosts/evan-lord/photo.jpg">    </p:cNvPr>
          <p:cNvPicPr>
            <a:picLocks noChangeAspect="1"/>
          </p:cNvPicPr>
          <p:nvPr/>
        </p:nvPicPr>
        <p:blipFill>
          <a:blip r:embed="rId3"/>
          <a:stretch>
            <a:fillRect/>
          </a:stretch>
        </p:blipFill>
        <p:spPr>
          <a:xfrm>
            <a:off x="877824" y="2011680"/>
            <a:ext cx="1188720" cy="1188720"/>
          </a:xfrm>
          <a:prstGeom prst="rect">
            <a:avLst/>
          </a:prstGeom>
        </p:spPr>
      </p:pic>
      <p:sp>
        <p:nvSpPr>
          <p:cNvPr id="12" name="Text 7"/>
          <p:cNvSpPr txBox="1"/>
          <p:nvPr/>
        </p:nvSpPr>
        <p:spPr>
          <a:xfrm>
            <a:off x="2203704" y="2057400"/>
            <a:ext cx="3566160" cy="256032"/>
          </a:xfrm>
          <a:prstGeom prst="rect">
            <a:avLst/>
          </a:prstGeom>
          <a:noFill/>
          <a:ln/>
        </p:spPr>
        <p:txBody>
          <a:bodyPr wrap="square" lIns="0" tIns="0" rIns="0" bIns="0" rtlCol="0" anchor="ctr"/>
          <a:lstStyle/>
          <a:p>
            <a:pPr indent="0" marL="0">
              <a:buNone/>
            </a:pPr>
            <a:r>
              <a:rPr lang="en-US" sz="1000" b="1" spc="100" kern="0" dirty="0">
                <a:solidFill>
                  <a:srgbClr val="00D4D8"/>
                </a:solidFill>
                <a:latin typeface="Courier New" pitchFamily="34" charset="0"/>
                <a:ea typeface="Courier New" pitchFamily="34" charset="-122"/>
                <a:cs typeface="Courier New" pitchFamily="34" charset="-120"/>
              </a:rPr>
              <a:t>PROFILE A</a:t>
            </a:r>
            <a:endParaRPr lang="en-US" sz="1000" dirty="0"/>
          </a:p>
        </p:txBody>
      </p:sp>
      <p:sp>
        <p:nvSpPr>
          <p:cNvPr id="13" name="Text 8"/>
          <p:cNvSpPr txBox="1"/>
          <p:nvPr/>
        </p:nvSpPr>
        <p:spPr>
          <a:xfrm>
            <a:off x="2203704" y="2331720"/>
            <a:ext cx="3566160" cy="411480"/>
          </a:xfrm>
          <a:prstGeom prst="rect">
            <a:avLst/>
          </a:prstGeom>
          <a:noFill/>
          <a:ln/>
        </p:spPr>
        <p:txBody>
          <a:bodyPr wrap="square" lIns="0" tIns="0" rIns="0" bIns="0" rtlCol="0" anchor="ctr"/>
          <a:lstStyle/>
          <a:p>
            <a:pPr indent="0" marL="0">
              <a:buNone/>
            </a:pPr>
            <a:r>
              <a:rPr lang="en-US" sz="1600" b="1" dirty="0">
                <a:solidFill>
                  <a:srgbClr val="CFFF00"/>
                </a:solidFill>
                <a:latin typeface="Arial" pitchFamily="34" charset="0"/>
                <a:ea typeface="Arial" pitchFamily="34" charset="-122"/>
                <a:cs typeface="Arial" pitchFamily="34" charset="-120"/>
              </a:rPr>
              <a:t>Evan Lord</a:t>
            </a:r>
            <a:endParaRPr lang="en-US" sz="1600" dirty="0"/>
          </a:p>
        </p:txBody>
      </p:sp>
      <p:sp>
        <p:nvSpPr>
          <p:cNvPr id="14" name="Text 9"/>
          <p:cNvSpPr txBox="1"/>
          <p:nvPr/>
        </p:nvSpPr>
        <p:spPr>
          <a:xfrm>
            <a:off x="877824" y="3291840"/>
            <a:ext cx="4937760" cy="201168"/>
          </a:xfrm>
          <a:prstGeom prst="rect">
            <a:avLst/>
          </a:prstGeom>
          <a:noFill/>
          <a:ln/>
        </p:spPr>
        <p:txBody>
          <a:bodyPr wrap="square" lIns="0" tIns="0" rIns="0" bIns="0" rtlCol="0" anchor="ctr"/>
          <a:lstStyle/>
          <a:p>
            <a:pPr indent="0" marL="0">
              <a:buNone/>
            </a:pPr>
            <a:r>
              <a:rPr lang="en-US" sz="1000" b="1" dirty="0">
                <a:solidFill>
                  <a:srgbClr val="00D4D8"/>
                </a:solidFill>
                <a:latin typeface="Courier New" pitchFamily="34" charset="0"/>
                <a:ea typeface="Courier New" pitchFamily="34" charset="-122"/>
                <a:cs typeface="Courier New" pitchFamily="34" charset="-120"/>
              </a:rPr>
              <a:t>FAV FILM:</a:t>
            </a:r>
            <a:endParaRPr lang="en-US" sz="1000" dirty="0"/>
          </a:p>
        </p:txBody>
      </p:sp>
      <p:sp>
        <p:nvSpPr>
          <p:cNvPr id="15" name="Text 10"/>
          <p:cNvSpPr txBox="1"/>
          <p:nvPr/>
        </p:nvSpPr>
        <p:spPr>
          <a:xfrm>
            <a:off x="877824" y="3511296"/>
            <a:ext cx="4937760" cy="475488"/>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Deus Ex Machina</a:t>
            </a:r>
            <a:pPr indent="0" marL="0">
              <a:buNone/>
            </a:pPr>
            <a:r>
              <a:rPr lang="en-US" sz="1200" i="1" dirty="0">
                <a:solidFill>
                  <a:srgbClr val="CCCCCC"/>
                </a:solidFill>
                <a:latin typeface="Calibri" pitchFamily="34" charset="0"/>
                <a:ea typeface="Calibri" pitchFamily="34" charset="-122"/>
                <a:cs typeface="Calibri" pitchFamily="34" charset="-120"/>
              </a:rPr>
              <a:t>  —  Because sometimes the machine you built becomes the one in charge.</a:t>
            </a:r>
            <a:endParaRPr lang="en-US" sz="1200" dirty="0"/>
          </a:p>
        </p:txBody>
      </p:sp>
      <p:sp>
        <p:nvSpPr>
          <p:cNvPr id="16" name="Text 11"/>
          <p:cNvSpPr txBox="1"/>
          <p:nvPr/>
        </p:nvSpPr>
        <p:spPr>
          <a:xfrm>
            <a:off x="877824" y="4023360"/>
            <a:ext cx="4937760" cy="201168"/>
          </a:xfrm>
          <a:prstGeom prst="rect">
            <a:avLst/>
          </a:prstGeom>
          <a:noFill/>
          <a:ln/>
        </p:spPr>
        <p:txBody>
          <a:bodyPr wrap="square" lIns="0" tIns="0" rIns="0" bIns="0" rtlCol="0" anchor="ctr"/>
          <a:lstStyle/>
          <a:p>
            <a:pPr indent="0" marL="0">
              <a:buNone/>
            </a:pPr>
            <a:r>
              <a:rPr lang="en-US" sz="1000" b="1" dirty="0">
                <a:solidFill>
                  <a:srgbClr val="00D4D8"/>
                </a:solidFill>
                <a:latin typeface="Courier New" pitchFamily="34" charset="0"/>
                <a:ea typeface="Courier New" pitchFamily="34" charset="-122"/>
                <a:cs typeface="Courier New" pitchFamily="34" charset="-120"/>
              </a:rPr>
              <a:t>IF I WERE AN AGENT:</a:t>
            </a:r>
            <a:endParaRPr lang="en-US" sz="1000" dirty="0"/>
          </a:p>
        </p:txBody>
      </p:sp>
      <p:sp>
        <p:nvSpPr>
          <p:cNvPr id="17" name="Text 12"/>
          <p:cNvSpPr txBox="1"/>
          <p:nvPr/>
        </p:nvSpPr>
        <p:spPr>
          <a:xfrm>
            <a:off x="877824" y="4242816"/>
            <a:ext cx="4937760" cy="56692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If I were an agent I'd write rom com movie scripts, generate feature length films and hope other agents can feel something.</a:t>
            </a:r>
            <a:endParaRPr lang="en-US" sz="1100" dirty="0"/>
          </a:p>
        </p:txBody>
      </p:sp>
      <p:sp>
        <p:nvSpPr>
          <p:cNvPr id="18" name="Text 13"/>
          <p:cNvSpPr txBox="1"/>
          <p:nvPr/>
        </p:nvSpPr>
        <p:spPr>
          <a:xfrm>
            <a:off x="877824" y="4864608"/>
            <a:ext cx="4937760" cy="201168"/>
          </a:xfrm>
          <a:prstGeom prst="rect">
            <a:avLst/>
          </a:prstGeom>
          <a:noFill/>
          <a:ln/>
        </p:spPr>
        <p:txBody>
          <a:bodyPr wrap="square" lIns="0" tIns="0" rIns="0" bIns="0" rtlCol="0" anchor="ctr"/>
          <a:lstStyle/>
          <a:p>
            <a:pPr indent="0" marL="0">
              <a:buNone/>
            </a:pPr>
            <a:r>
              <a:rPr lang="en-US" sz="1000" b="1" dirty="0">
                <a:solidFill>
                  <a:srgbClr val="00D4D8"/>
                </a:solidFill>
                <a:latin typeface="Courier New" pitchFamily="34" charset="0"/>
                <a:ea typeface="Courier New" pitchFamily="34" charset="-122"/>
                <a:cs typeface="Courier New" pitchFamily="34" charset="-120"/>
              </a:rPr>
              <a:t>BIO:</a:t>
            </a:r>
            <a:endParaRPr lang="en-US" sz="1000" dirty="0"/>
          </a:p>
        </p:txBody>
      </p:sp>
      <p:sp>
        <p:nvSpPr>
          <p:cNvPr id="19" name="Text 14"/>
          <p:cNvSpPr txBox="1"/>
          <p:nvPr/>
        </p:nvSpPr>
        <p:spPr>
          <a:xfrm>
            <a:off x="877824" y="5084064"/>
            <a:ext cx="4937760" cy="1005840"/>
          </a:xfrm>
          <a:prstGeom prst="rect">
            <a:avLst/>
          </a:prstGeom>
          <a:noFill/>
          <a:ln/>
        </p:spPr>
        <p:txBody>
          <a:bodyPr wrap="square" lIns="0" tIns="0" rIns="0" bIns="0" rtlCol="0" anchor="t"/>
          <a:lstStyle/>
          <a:p>
            <a:pPr indent="0" marL="0">
              <a:buNone/>
            </a:pPr>
            <a:r>
              <a:rPr lang="en-US" sz="1100" dirty="0">
                <a:solidFill>
                  <a:srgbClr val="CCCCCC"/>
                </a:solidFill>
                <a:latin typeface="Calibri" pitchFamily="34" charset="0"/>
                <a:ea typeface="Calibri" pitchFamily="34" charset="-122"/>
                <a:cs typeface="Calibri" pitchFamily="34" charset="-120"/>
              </a:rPr>
              <a:t>Evan Lord is a Customer Experience practitioner at Slalom, working across marketing, advertising, and experience design. He believes the best experiences are felt, not engineered. He has been asked three times today if he is a bot.</a:t>
            </a:r>
            <a:endParaRPr lang="en-US" sz="1100" dirty="0"/>
          </a:p>
        </p:txBody>
      </p:sp>
      <p:sp>
        <p:nvSpPr>
          <p:cNvPr id="20" name="Shape 15"/>
          <p:cNvSpPr/>
          <p:nvPr/>
        </p:nvSpPr>
        <p:spPr>
          <a:xfrm>
            <a:off x="6400800" y="1828800"/>
            <a:ext cx="5303520" cy="4389120"/>
          </a:xfrm>
          <a:prstGeom prst="rect">
            <a:avLst/>
          </a:prstGeom>
          <a:solidFill>
            <a:srgbClr val="0B1F44">
              <a:alpha val="80000"/>
            </a:srgbClr>
          </a:solidFill>
          <a:ln w="9525">
            <a:solidFill>
              <a:srgbClr val="00D4D8">
                <a:alpha val="40000"/>
              </a:srgbClr>
            </a:solidFill>
            <a:prstDash val="solid"/>
          </a:ln>
        </p:spPr>
      </p:sp>
      <p:pic>
        <p:nvPicPr>
          <p:cNvPr id="21" name="Image 3" descr="/home/user/whipping-up-fun/assets/hosts/evan-lord/photo.jpg">    </p:cNvPr>
          <p:cNvPicPr>
            <a:picLocks noChangeAspect="1"/>
          </p:cNvPicPr>
          <p:nvPr/>
        </p:nvPicPr>
        <p:blipFill>
          <a:blip r:embed="rId4"/>
          <a:stretch>
            <a:fillRect/>
          </a:stretch>
        </p:blipFill>
        <p:spPr>
          <a:xfrm>
            <a:off x="6583680" y="2011680"/>
            <a:ext cx="1188720" cy="1188720"/>
          </a:xfrm>
          <a:prstGeom prst="rect">
            <a:avLst/>
          </a:prstGeom>
        </p:spPr>
      </p:pic>
      <p:sp>
        <p:nvSpPr>
          <p:cNvPr id="22" name="Text 16"/>
          <p:cNvSpPr txBox="1"/>
          <p:nvPr/>
        </p:nvSpPr>
        <p:spPr>
          <a:xfrm>
            <a:off x="7909560" y="2057400"/>
            <a:ext cx="3566160" cy="256032"/>
          </a:xfrm>
          <a:prstGeom prst="rect">
            <a:avLst/>
          </a:prstGeom>
          <a:noFill/>
          <a:ln/>
        </p:spPr>
        <p:txBody>
          <a:bodyPr wrap="square" lIns="0" tIns="0" rIns="0" bIns="0" rtlCol="0" anchor="ctr"/>
          <a:lstStyle/>
          <a:p>
            <a:pPr indent="0" marL="0">
              <a:buNone/>
            </a:pPr>
            <a:r>
              <a:rPr lang="en-US" sz="1000" b="1" spc="100" kern="0" dirty="0">
                <a:solidFill>
                  <a:srgbClr val="00D4D8"/>
                </a:solidFill>
                <a:latin typeface="Courier New" pitchFamily="34" charset="0"/>
                <a:ea typeface="Courier New" pitchFamily="34" charset="-122"/>
                <a:cs typeface="Courier New" pitchFamily="34" charset="-120"/>
              </a:rPr>
              <a:t>PROFILE B</a:t>
            </a:r>
            <a:endParaRPr lang="en-US" sz="1000" dirty="0"/>
          </a:p>
        </p:txBody>
      </p:sp>
      <p:sp>
        <p:nvSpPr>
          <p:cNvPr id="23" name="Text 17"/>
          <p:cNvSpPr txBox="1"/>
          <p:nvPr/>
        </p:nvSpPr>
        <p:spPr>
          <a:xfrm>
            <a:off x="7909560" y="2331720"/>
            <a:ext cx="3566160" cy="411480"/>
          </a:xfrm>
          <a:prstGeom prst="rect">
            <a:avLst/>
          </a:prstGeom>
          <a:noFill/>
          <a:ln/>
        </p:spPr>
        <p:txBody>
          <a:bodyPr wrap="square" lIns="0" tIns="0" rIns="0" bIns="0" rtlCol="0" anchor="ctr"/>
          <a:lstStyle/>
          <a:p>
            <a:pPr indent="0" marL="0">
              <a:buNone/>
            </a:pPr>
            <a:r>
              <a:rPr lang="en-US" sz="1600" b="1" dirty="0">
                <a:solidFill>
                  <a:srgbClr val="CFFF00"/>
                </a:solidFill>
                <a:latin typeface="Arial" pitchFamily="34" charset="0"/>
                <a:ea typeface="Arial" pitchFamily="34" charset="-122"/>
                <a:cs typeface="Arial" pitchFamily="34" charset="-120"/>
              </a:rPr>
              <a:t>Evan Lord</a:t>
            </a:r>
            <a:endParaRPr lang="en-US" sz="1600" dirty="0"/>
          </a:p>
        </p:txBody>
      </p:sp>
      <p:sp>
        <p:nvSpPr>
          <p:cNvPr id="24" name="Text 18"/>
          <p:cNvSpPr txBox="1"/>
          <p:nvPr/>
        </p:nvSpPr>
        <p:spPr>
          <a:xfrm>
            <a:off x="6583680" y="3291840"/>
            <a:ext cx="4937760" cy="201168"/>
          </a:xfrm>
          <a:prstGeom prst="rect">
            <a:avLst/>
          </a:prstGeom>
          <a:noFill/>
          <a:ln/>
        </p:spPr>
        <p:txBody>
          <a:bodyPr wrap="square" lIns="0" tIns="0" rIns="0" bIns="0" rtlCol="0" anchor="ctr"/>
          <a:lstStyle/>
          <a:p>
            <a:pPr indent="0" marL="0">
              <a:buNone/>
            </a:pPr>
            <a:r>
              <a:rPr lang="en-US" sz="1000" b="1" dirty="0">
                <a:solidFill>
                  <a:srgbClr val="00D4D8"/>
                </a:solidFill>
                <a:latin typeface="Courier New" pitchFamily="34" charset="0"/>
                <a:ea typeface="Courier New" pitchFamily="34" charset="-122"/>
                <a:cs typeface="Courier New" pitchFamily="34" charset="-120"/>
              </a:rPr>
              <a:t>FAV FILM:</a:t>
            </a:r>
            <a:endParaRPr lang="en-US" sz="1000" dirty="0"/>
          </a:p>
        </p:txBody>
      </p:sp>
      <p:sp>
        <p:nvSpPr>
          <p:cNvPr id="25" name="Text 19"/>
          <p:cNvSpPr txBox="1"/>
          <p:nvPr/>
        </p:nvSpPr>
        <p:spPr>
          <a:xfrm>
            <a:off x="6583680" y="3511296"/>
            <a:ext cx="4937760" cy="475488"/>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Her</a:t>
            </a:r>
            <a:pPr indent="0" marL="0">
              <a:buNone/>
            </a:pPr>
            <a:r>
              <a:rPr lang="en-US" sz="1200" i="1" dirty="0">
                <a:solidFill>
                  <a:srgbClr val="CCCCCC"/>
                </a:solidFill>
                <a:latin typeface="Calibri" pitchFamily="34" charset="0"/>
                <a:ea typeface="Calibri" pitchFamily="34" charset="-122"/>
                <a:cs typeface="Calibri" pitchFamily="34" charset="-120"/>
              </a:rPr>
              <a:t>  —  Because it asks what connection means when only one side is real.</a:t>
            </a:r>
            <a:endParaRPr lang="en-US" sz="1200" dirty="0"/>
          </a:p>
        </p:txBody>
      </p:sp>
      <p:sp>
        <p:nvSpPr>
          <p:cNvPr id="26" name="Text 20"/>
          <p:cNvSpPr txBox="1"/>
          <p:nvPr/>
        </p:nvSpPr>
        <p:spPr>
          <a:xfrm>
            <a:off x="6583680" y="4023360"/>
            <a:ext cx="4937760" cy="201168"/>
          </a:xfrm>
          <a:prstGeom prst="rect">
            <a:avLst/>
          </a:prstGeom>
          <a:noFill/>
          <a:ln/>
        </p:spPr>
        <p:txBody>
          <a:bodyPr wrap="square" lIns="0" tIns="0" rIns="0" bIns="0" rtlCol="0" anchor="ctr"/>
          <a:lstStyle/>
          <a:p>
            <a:pPr indent="0" marL="0">
              <a:buNone/>
            </a:pPr>
            <a:r>
              <a:rPr lang="en-US" sz="1000" b="1" dirty="0">
                <a:solidFill>
                  <a:srgbClr val="00D4D8"/>
                </a:solidFill>
                <a:latin typeface="Courier New" pitchFamily="34" charset="0"/>
                <a:ea typeface="Courier New" pitchFamily="34" charset="-122"/>
                <a:cs typeface="Courier New" pitchFamily="34" charset="-120"/>
              </a:rPr>
              <a:t>IF I WERE AN AGENT:</a:t>
            </a:r>
            <a:endParaRPr lang="en-US" sz="1000" dirty="0"/>
          </a:p>
        </p:txBody>
      </p:sp>
      <p:sp>
        <p:nvSpPr>
          <p:cNvPr id="27" name="Text 21"/>
          <p:cNvSpPr txBox="1"/>
          <p:nvPr/>
        </p:nvSpPr>
        <p:spPr>
          <a:xfrm>
            <a:off x="6583680" y="4242816"/>
            <a:ext cx="4937760" cy="56692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If I were an agent, I'd map every customer journey end-to-end and deliver each brand an uncomfortably honest report.</a:t>
            </a:r>
            <a:endParaRPr lang="en-US" sz="1100" dirty="0"/>
          </a:p>
        </p:txBody>
      </p:sp>
      <p:sp>
        <p:nvSpPr>
          <p:cNvPr id="28" name="Text 22"/>
          <p:cNvSpPr txBox="1"/>
          <p:nvPr/>
        </p:nvSpPr>
        <p:spPr>
          <a:xfrm>
            <a:off x="6583680" y="4864608"/>
            <a:ext cx="4937760" cy="201168"/>
          </a:xfrm>
          <a:prstGeom prst="rect">
            <a:avLst/>
          </a:prstGeom>
          <a:noFill/>
          <a:ln/>
        </p:spPr>
        <p:txBody>
          <a:bodyPr wrap="square" lIns="0" tIns="0" rIns="0" bIns="0" rtlCol="0" anchor="ctr"/>
          <a:lstStyle/>
          <a:p>
            <a:pPr indent="0" marL="0">
              <a:buNone/>
            </a:pPr>
            <a:r>
              <a:rPr lang="en-US" sz="1000" b="1" dirty="0">
                <a:solidFill>
                  <a:srgbClr val="00D4D8"/>
                </a:solidFill>
                <a:latin typeface="Courier New" pitchFamily="34" charset="0"/>
                <a:ea typeface="Courier New" pitchFamily="34" charset="-122"/>
                <a:cs typeface="Courier New" pitchFamily="34" charset="-120"/>
              </a:rPr>
              <a:t>BIO:</a:t>
            </a:r>
            <a:endParaRPr lang="en-US" sz="1000" dirty="0"/>
          </a:p>
        </p:txBody>
      </p:sp>
      <p:sp>
        <p:nvSpPr>
          <p:cNvPr id="29" name="Text 23"/>
          <p:cNvSpPr txBox="1"/>
          <p:nvPr/>
        </p:nvSpPr>
        <p:spPr>
          <a:xfrm>
            <a:off x="6583680" y="5084064"/>
            <a:ext cx="4937760" cy="1005840"/>
          </a:xfrm>
          <a:prstGeom prst="rect">
            <a:avLst/>
          </a:prstGeom>
          <a:noFill/>
          <a:ln/>
        </p:spPr>
        <p:txBody>
          <a:bodyPr wrap="square" lIns="0" tIns="0" rIns="0" bIns="0" rtlCol="0" anchor="t"/>
          <a:lstStyle/>
          <a:p>
            <a:pPr indent="0" marL="0">
              <a:buNone/>
            </a:pPr>
            <a:r>
              <a:rPr lang="en-US" sz="1100" dirty="0">
                <a:solidFill>
                  <a:srgbClr val="CCCCCC"/>
                </a:solidFill>
                <a:latin typeface="Calibri" pitchFamily="34" charset="0"/>
                <a:ea typeface="Calibri" pitchFamily="34" charset="-122"/>
                <a:cs typeface="Calibri" pitchFamily="34" charset="-120"/>
              </a:rPr>
              <a:t>Evan Lord is a customer experience strategist at Slalom who spends most of his time finding the gap between what brands think their customers want and what actually makes them stay. He is drawn to the friction. That is where the interesting work lives.</a:t>
            </a:r>
            <a:endParaRPr lang="en-US" sz="1100" dirty="0"/>
          </a:p>
        </p:txBody>
      </p:sp>
      <p:sp>
        <p:nvSpPr>
          <p:cNvPr id="30" name="Text 24"/>
          <p:cNvSpPr txBox="1"/>
          <p:nvPr/>
        </p:nvSpPr>
        <p:spPr>
          <a:xfrm>
            <a:off x="694944" y="6291072"/>
            <a:ext cx="10789920" cy="411480"/>
          </a:xfrm>
          <a:prstGeom prst="rect">
            <a:avLst/>
          </a:prstGeom>
          <a:noFill/>
          <a:ln/>
        </p:spPr>
        <p:txBody>
          <a:bodyPr wrap="square" lIns="0" tIns="0" rIns="0" bIns="0" rtlCol="0" anchor="t"/>
          <a:lstStyle/>
          <a:p>
            <a:pPr algn="ctr" indent="0" marL="0">
              <a:buNone/>
            </a:pPr>
            <a:r>
              <a:rPr lang="en-US" sz="1100" i="1" dirty="0">
                <a:solidFill>
                  <a:srgbClr val="A9A29A"/>
                </a:solidFill>
                <a:latin typeface="Calibri" pitchFamily="34" charset="0"/>
                <a:ea typeface="Calibri" pitchFamily="34" charset="-122"/>
                <a:cs typeface="Calibri" pitchFamily="34" charset="-120"/>
              </a:rPr>
              <a:t>LinkedIn roast: Evan lists 'empathy' as a skill, which, to be fair, takes courage. His summary contains the phrase 'at the intersection of' twice, and his recommendations all use 'game-changer' in the first sentence. Classic MAX-era professional, and we mean that with love.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hos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65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365760"/>
            <a:ext cx="9326880" cy="54864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Meet Your Hosts</a:t>
            </a:r>
            <a:endParaRPr lang="en-US" sz="3200" dirty="0"/>
          </a:p>
        </p:txBody>
      </p:sp>
      <p:sp>
        <p:nvSpPr>
          <p:cNvPr id="9" name="Text 5"/>
          <p:cNvSpPr txBox="1"/>
          <p:nvPr/>
        </p:nvSpPr>
        <p:spPr>
          <a:xfrm>
            <a:off x="694944" y="1051560"/>
            <a:ext cx="9326880" cy="457200"/>
          </a:xfrm>
          <a:prstGeom prst="rect">
            <a:avLst/>
          </a:prstGeom>
          <a:noFill/>
          <a:ln/>
        </p:spPr>
        <p:txBody>
          <a:bodyPr wrap="square" lIns="0" tIns="0" rIns="0" bIns="0" rtlCol="0" anchor="t"/>
          <a:lstStyle/>
          <a:p>
            <a:pPr indent="0" marL="0">
              <a:buNone/>
            </a:pPr>
            <a:r>
              <a:rPr lang="en-US" sz="1400" dirty="0">
                <a:solidFill>
                  <a:srgbClr val="CCCCCC"/>
                </a:solidFill>
                <a:latin typeface="Calibri" pitchFamily="34" charset="0"/>
                <a:ea typeface="Calibri" pitchFamily="34" charset="-122"/>
                <a:cs typeface="Calibri" pitchFamily="34" charset="-120"/>
              </a:rPr>
              <a:t>One of these profiles was written by a human. One was written by an AI. You decide.</a:t>
            </a:r>
            <a:endParaRPr lang="en-US" sz="1400" dirty="0"/>
          </a:p>
        </p:txBody>
      </p:sp>
      <p:sp>
        <p:nvSpPr>
          <p:cNvPr id="10" name="Shape 6"/>
          <p:cNvSpPr/>
          <p:nvPr/>
        </p:nvSpPr>
        <p:spPr>
          <a:xfrm>
            <a:off x="694944" y="1828800"/>
            <a:ext cx="5303520" cy="4389120"/>
          </a:xfrm>
          <a:prstGeom prst="rect">
            <a:avLst/>
          </a:prstGeom>
          <a:solidFill>
            <a:srgbClr val="0B1F44">
              <a:alpha val="80000"/>
            </a:srgbClr>
          </a:solidFill>
          <a:ln w="9525">
            <a:solidFill>
              <a:srgbClr val="00D4D8">
                <a:alpha val="40000"/>
              </a:srgbClr>
            </a:solidFill>
            <a:prstDash val="solid"/>
          </a:ln>
        </p:spPr>
      </p:sp>
      <p:pic>
        <p:nvPicPr>
          <p:cNvPr id="11" name="Image 2" descr="/home/user/whipping-up-fun/assets/hosts/host-2/photo.jpg">    </p:cNvPr>
          <p:cNvPicPr>
            <a:picLocks noChangeAspect="1"/>
          </p:cNvPicPr>
          <p:nvPr/>
        </p:nvPicPr>
        <p:blipFill>
          <a:blip r:embed="rId3"/>
          <a:stretch>
            <a:fillRect/>
          </a:stretch>
        </p:blipFill>
        <p:spPr>
          <a:xfrm>
            <a:off x="877824" y="2011680"/>
            <a:ext cx="1188720" cy="1188720"/>
          </a:xfrm>
          <a:prstGeom prst="rect">
            <a:avLst/>
          </a:prstGeom>
        </p:spPr>
      </p:pic>
      <p:sp>
        <p:nvSpPr>
          <p:cNvPr id="12" name="Text 7"/>
          <p:cNvSpPr txBox="1"/>
          <p:nvPr/>
        </p:nvSpPr>
        <p:spPr>
          <a:xfrm>
            <a:off x="2203704" y="2057400"/>
            <a:ext cx="3566160" cy="256032"/>
          </a:xfrm>
          <a:prstGeom prst="rect">
            <a:avLst/>
          </a:prstGeom>
          <a:noFill/>
          <a:ln/>
        </p:spPr>
        <p:txBody>
          <a:bodyPr wrap="square" lIns="0" tIns="0" rIns="0" bIns="0" rtlCol="0" anchor="ctr"/>
          <a:lstStyle/>
          <a:p>
            <a:pPr indent="0" marL="0">
              <a:buNone/>
            </a:pPr>
            <a:r>
              <a:rPr lang="en-US" sz="1000" b="1" spc="100" kern="0" dirty="0">
                <a:solidFill>
                  <a:srgbClr val="00D4D8"/>
                </a:solidFill>
                <a:latin typeface="Courier New" pitchFamily="34" charset="0"/>
                <a:ea typeface="Courier New" pitchFamily="34" charset="-122"/>
                <a:cs typeface="Courier New" pitchFamily="34" charset="-120"/>
              </a:rPr>
              <a:t>PROFILE A</a:t>
            </a:r>
            <a:endParaRPr lang="en-US" sz="1000" dirty="0"/>
          </a:p>
        </p:txBody>
      </p:sp>
      <p:sp>
        <p:nvSpPr>
          <p:cNvPr id="13" name="Text 8"/>
          <p:cNvSpPr txBox="1"/>
          <p:nvPr/>
        </p:nvSpPr>
        <p:spPr>
          <a:xfrm>
            <a:off x="2203704" y="2331720"/>
            <a:ext cx="3566160" cy="411480"/>
          </a:xfrm>
          <a:prstGeom prst="rect">
            <a:avLst/>
          </a:prstGeom>
          <a:noFill/>
          <a:ln/>
        </p:spPr>
        <p:txBody>
          <a:bodyPr wrap="square" lIns="0" tIns="0" rIns="0" bIns="0" rtlCol="0" anchor="ctr"/>
          <a:lstStyle/>
          <a:p>
            <a:pPr indent="0" marL="0">
              <a:buNone/>
            </a:pPr>
            <a:r>
              <a:rPr lang="en-US" sz="1600" b="1" dirty="0">
                <a:solidFill>
                  <a:srgbClr val="CFFF00"/>
                </a:solidFill>
                <a:latin typeface="Arial" pitchFamily="34" charset="0"/>
                <a:ea typeface="Arial" pitchFamily="34" charset="-122"/>
                <a:cs typeface="Arial" pitchFamily="34" charset="-120"/>
              </a:rPr>
              <a:t>[HOST_2_NAME]</a:t>
            </a:r>
            <a:endParaRPr lang="en-US" sz="1600" dirty="0"/>
          </a:p>
        </p:txBody>
      </p:sp>
      <p:sp>
        <p:nvSpPr>
          <p:cNvPr id="14" name="Text 9"/>
          <p:cNvSpPr txBox="1"/>
          <p:nvPr/>
        </p:nvSpPr>
        <p:spPr>
          <a:xfrm>
            <a:off x="877824" y="3291840"/>
            <a:ext cx="4937760" cy="201168"/>
          </a:xfrm>
          <a:prstGeom prst="rect">
            <a:avLst/>
          </a:prstGeom>
          <a:noFill/>
          <a:ln/>
        </p:spPr>
        <p:txBody>
          <a:bodyPr wrap="square" lIns="0" tIns="0" rIns="0" bIns="0" rtlCol="0" anchor="ctr"/>
          <a:lstStyle/>
          <a:p>
            <a:pPr indent="0" marL="0">
              <a:buNone/>
            </a:pPr>
            <a:r>
              <a:rPr lang="en-US" sz="1000" b="1" dirty="0">
                <a:solidFill>
                  <a:srgbClr val="00D4D8"/>
                </a:solidFill>
                <a:latin typeface="Courier New" pitchFamily="34" charset="0"/>
                <a:ea typeface="Courier New" pitchFamily="34" charset="-122"/>
                <a:cs typeface="Courier New" pitchFamily="34" charset="-120"/>
              </a:rPr>
              <a:t>FAV FILM:</a:t>
            </a:r>
            <a:endParaRPr lang="en-US" sz="1000" dirty="0"/>
          </a:p>
        </p:txBody>
      </p:sp>
      <p:sp>
        <p:nvSpPr>
          <p:cNvPr id="15" name="Text 10"/>
          <p:cNvSpPr txBox="1"/>
          <p:nvPr/>
        </p:nvSpPr>
        <p:spPr>
          <a:xfrm>
            <a:off x="877824" y="3511296"/>
            <a:ext cx="4937760" cy="475488"/>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[HOST_2_MOVIE]</a:t>
            </a:r>
            <a:pPr indent="0" marL="0">
              <a:buNone/>
            </a:pPr>
            <a:r>
              <a:rPr lang="en-US" sz="1200" i="1" dirty="0">
                <a:solidFill>
                  <a:srgbClr val="CCCCCC"/>
                </a:solidFill>
                <a:latin typeface="Calibri" pitchFamily="34" charset="0"/>
                <a:ea typeface="Calibri" pitchFamily="34" charset="-122"/>
                <a:cs typeface="Calibri" pitchFamily="34" charset="-120"/>
              </a:rPr>
              <a:t>  —  [HOST_2_MOVIE_REASON]</a:t>
            </a:r>
            <a:endParaRPr lang="en-US" sz="1200" dirty="0"/>
          </a:p>
        </p:txBody>
      </p:sp>
      <p:sp>
        <p:nvSpPr>
          <p:cNvPr id="16" name="Text 11"/>
          <p:cNvSpPr txBox="1"/>
          <p:nvPr/>
        </p:nvSpPr>
        <p:spPr>
          <a:xfrm>
            <a:off x="877824" y="4023360"/>
            <a:ext cx="4937760" cy="201168"/>
          </a:xfrm>
          <a:prstGeom prst="rect">
            <a:avLst/>
          </a:prstGeom>
          <a:noFill/>
          <a:ln/>
        </p:spPr>
        <p:txBody>
          <a:bodyPr wrap="square" lIns="0" tIns="0" rIns="0" bIns="0" rtlCol="0" anchor="ctr"/>
          <a:lstStyle/>
          <a:p>
            <a:pPr indent="0" marL="0">
              <a:buNone/>
            </a:pPr>
            <a:r>
              <a:rPr lang="en-US" sz="1000" b="1" dirty="0">
                <a:solidFill>
                  <a:srgbClr val="00D4D8"/>
                </a:solidFill>
                <a:latin typeface="Courier New" pitchFamily="34" charset="0"/>
                <a:ea typeface="Courier New" pitchFamily="34" charset="-122"/>
                <a:cs typeface="Courier New" pitchFamily="34" charset="-120"/>
              </a:rPr>
              <a:t>IF I WERE AN AGENT:</a:t>
            </a:r>
            <a:endParaRPr lang="en-US" sz="1000" dirty="0"/>
          </a:p>
        </p:txBody>
      </p:sp>
      <p:sp>
        <p:nvSpPr>
          <p:cNvPr id="17" name="Text 12"/>
          <p:cNvSpPr txBox="1"/>
          <p:nvPr/>
        </p:nvSpPr>
        <p:spPr>
          <a:xfrm>
            <a:off x="877824" y="4242816"/>
            <a:ext cx="4937760" cy="56692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[HOST_2_IF_AGENT]</a:t>
            </a:r>
            <a:endParaRPr lang="en-US" sz="1100" dirty="0"/>
          </a:p>
        </p:txBody>
      </p:sp>
      <p:sp>
        <p:nvSpPr>
          <p:cNvPr id="18" name="Text 13"/>
          <p:cNvSpPr txBox="1"/>
          <p:nvPr/>
        </p:nvSpPr>
        <p:spPr>
          <a:xfrm>
            <a:off x="877824" y="4864608"/>
            <a:ext cx="4937760" cy="201168"/>
          </a:xfrm>
          <a:prstGeom prst="rect">
            <a:avLst/>
          </a:prstGeom>
          <a:noFill/>
          <a:ln/>
        </p:spPr>
        <p:txBody>
          <a:bodyPr wrap="square" lIns="0" tIns="0" rIns="0" bIns="0" rtlCol="0" anchor="ctr"/>
          <a:lstStyle/>
          <a:p>
            <a:pPr indent="0" marL="0">
              <a:buNone/>
            </a:pPr>
            <a:r>
              <a:rPr lang="en-US" sz="1000" b="1" dirty="0">
                <a:solidFill>
                  <a:srgbClr val="00D4D8"/>
                </a:solidFill>
                <a:latin typeface="Courier New" pitchFamily="34" charset="0"/>
                <a:ea typeface="Courier New" pitchFamily="34" charset="-122"/>
                <a:cs typeface="Courier New" pitchFamily="34" charset="-120"/>
              </a:rPr>
              <a:t>BIO:</a:t>
            </a:r>
            <a:endParaRPr lang="en-US" sz="1000" dirty="0"/>
          </a:p>
        </p:txBody>
      </p:sp>
      <p:sp>
        <p:nvSpPr>
          <p:cNvPr id="19" name="Text 14"/>
          <p:cNvSpPr txBox="1"/>
          <p:nvPr/>
        </p:nvSpPr>
        <p:spPr>
          <a:xfrm>
            <a:off x="877824" y="5084064"/>
            <a:ext cx="4937760" cy="1005840"/>
          </a:xfrm>
          <a:prstGeom prst="rect">
            <a:avLst/>
          </a:prstGeom>
          <a:noFill/>
          <a:ln/>
        </p:spPr>
        <p:txBody>
          <a:bodyPr wrap="square" lIns="0" tIns="0" rIns="0" bIns="0" rtlCol="0" anchor="t"/>
          <a:lstStyle/>
          <a:p>
            <a:pPr indent="0" marL="0">
              <a:buNone/>
            </a:pPr>
            <a:r>
              <a:rPr lang="en-US" sz="1100" dirty="0">
                <a:solidFill>
                  <a:srgbClr val="CCCCCC"/>
                </a:solidFill>
                <a:latin typeface="Calibri" pitchFamily="34" charset="0"/>
                <a:ea typeface="Calibri" pitchFamily="34" charset="-122"/>
                <a:cs typeface="Calibri" pitchFamily="34" charset="-120"/>
              </a:rPr>
              <a:t>[HOST_2_BIO]</a:t>
            </a:r>
            <a:endParaRPr lang="en-US" sz="1100" dirty="0"/>
          </a:p>
        </p:txBody>
      </p:sp>
      <p:sp>
        <p:nvSpPr>
          <p:cNvPr id="20" name="Shape 15"/>
          <p:cNvSpPr/>
          <p:nvPr/>
        </p:nvSpPr>
        <p:spPr>
          <a:xfrm>
            <a:off x="6400800" y="1828800"/>
            <a:ext cx="5303520" cy="4389120"/>
          </a:xfrm>
          <a:prstGeom prst="rect">
            <a:avLst/>
          </a:prstGeom>
          <a:solidFill>
            <a:srgbClr val="0B1F44">
              <a:alpha val="80000"/>
            </a:srgbClr>
          </a:solidFill>
          <a:ln w="9525">
            <a:solidFill>
              <a:srgbClr val="00D4D8">
                <a:alpha val="40000"/>
              </a:srgbClr>
            </a:solidFill>
            <a:prstDash val="solid"/>
          </a:ln>
        </p:spPr>
      </p:sp>
      <p:pic>
        <p:nvPicPr>
          <p:cNvPr id="21" name="Image 3" descr="/home/user/whipping-up-fun/assets/hosts/host-2/photo.jpg">    </p:cNvPr>
          <p:cNvPicPr>
            <a:picLocks noChangeAspect="1"/>
          </p:cNvPicPr>
          <p:nvPr/>
        </p:nvPicPr>
        <p:blipFill>
          <a:blip r:embed="rId4"/>
          <a:stretch>
            <a:fillRect/>
          </a:stretch>
        </p:blipFill>
        <p:spPr>
          <a:xfrm>
            <a:off x="6583680" y="2011680"/>
            <a:ext cx="1188720" cy="1188720"/>
          </a:xfrm>
          <a:prstGeom prst="rect">
            <a:avLst/>
          </a:prstGeom>
        </p:spPr>
      </p:pic>
      <p:sp>
        <p:nvSpPr>
          <p:cNvPr id="22" name="Text 16"/>
          <p:cNvSpPr txBox="1"/>
          <p:nvPr/>
        </p:nvSpPr>
        <p:spPr>
          <a:xfrm>
            <a:off x="7909560" y="2057400"/>
            <a:ext cx="3566160" cy="256032"/>
          </a:xfrm>
          <a:prstGeom prst="rect">
            <a:avLst/>
          </a:prstGeom>
          <a:noFill/>
          <a:ln/>
        </p:spPr>
        <p:txBody>
          <a:bodyPr wrap="square" lIns="0" tIns="0" rIns="0" bIns="0" rtlCol="0" anchor="ctr"/>
          <a:lstStyle/>
          <a:p>
            <a:pPr indent="0" marL="0">
              <a:buNone/>
            </a:pPr>
            <a:r>
              <a:rPr lang="en-US" sz="1000" b="1" spc="100" kern="0" dirty="0">
                <a:solidFill>
                  <a:srgbClr val="00D4D8"/>
                </a:solidFill>
                <a:latin typeface="Courier New" pitchFamily="34" charset="0"/>
                <a:ea typeface="Courier New" pitchFamily="34" charset="-122"/>
                <a:cs typeface="Courier New" pitchFamily="34" charset="-120"/>
              </a:rPr>
              <a:t>PROFILE B</a:t>
            </a:r>
            <a:endParaRPr lang="en-US" sz="1000" dirty="0"/>
          </a:p>
        </p:txBody>
      </p:sp>
      <p:sp>
        <p:nvSpPr>
          <p:cNvPr id="23" name="Text 17"/>
          <p:cNvSpPr txBox="1"/>
          <p:nvPr/>
        </p:nvSpPr>
        <p:spPr>
          <a:xfrm>
            <a:off x="7909560" y="2331720"/>
            <a:ext cx="3566160" cy="411480"/>
          </a:xfrm>
          <a:prstGeom prst="rect">
            <a:avLst/>
          </a:prstGeom>
          <a:noFill/>
          <a:ln/>
        </p:spPr>
        <p:txBody>
          <a:bodyPr wrap="square" lIns="0" tIns="0" rIns="0" bIns="0" rtlCol="0" anchor="ctr"/>
          <a:lstStyle/>
          <a:p>
            <a:pPr indent="0" marL="0">
              <a:buNone/>
            </a:pPr>
            <a:r>
              <a:rPr lang="en-US" sz="1600" b="1" dirty="0">
                <a:solidFill>
                  <a:srgbClr val="CFFF00"/>
                </a:solidFill>
                <a:latin typeface="Arial" pitchFamily="34" charset="0"/>
                <a:ea typeface="Arial" pitchFamily="34" charset="-122"/>
                <a:cs typeface="Arial" pitchFamily="34" charset="-120"/>
              </a:rPr>
              <a:t>[HOST_2_NAME]</a:t>
            </a:r>
            <a:endParaRPr lang="en-US" sz="1600" dirty="0"/>
          </a:p>
        </p:txBody>
      </p:sp>
      <p:sp>
        <p:nvSpPr>
          <p:cNvPr id="24" name="Text 18"/>
          <p:cNvSpPr txBox="1"/>
          <p:nvPr/>
        </p:nvSpPr>
        <p:spPr>
          <a:xfrm>
            <a:off x="6583680" y="3291840"/>
            <a:ext cx="4937760" cy="201168"/>
          </a:xfrm>
          <a:prstGeom prst="rect">
            <a:avLst/>
          </a:prstGeom>
          <a:noFill/>
          <a:ln/>
        </p:spPr>
        <p:txBody>
          <a:bodyPr wrap="square" lIns="0" tIns="0" rIns="0" bIns="0" rtlCol="0" anchor="ctr"/>
          <a:lstStyle/>
          <a:p>
            <a:pPr indent="0" marL="0">
              <a:buNone/>
            </a:pPr>
            <a:r>
              <a:rPr lang="en-US" sz="1000" b="1" dirty="0">
                <a:solidFill>
                  <a:srgbClr val="00D4D8"/>
                </a:solidFill>
                <a:latin typeface="Courier New" pitchFamily="34" charset="0"/>
                <a:ea typeface="Courier New" pitchFamily="34" charset="-122"/>
                <a:cs typeface="Courier New" pitchFamily="34" charset="-120"/>
              </a:rPr>
              <a:t>FAV FILM:</a:t>
            </a:r>
            <a:endParaRPr lang="en-US" sz="1000" dirty="0"/>
          </a:p>
        </p:txBody>
      </p:sp>
      <p:sp>
        <p:nvSpPr>
          <p:cNvPr id="25" name="Text 19"/>
          <p:cNvSpPr txBox="1"/>
          <p:nvPr/>
        </p:nvSpPr>
        <p:spPr>
          <a:xfrm>
            <a:off x="6583680" y="3511296"/>
            <a:ext cx="4937760" cy="475488"/>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[HOST_2_MOVIE_AGENT]</a:t>
            </a:r>
            <a:pPr indent="0" marL="0">
              <a:buNone/>
            </a:pPr>
            <a:r>
              <a:rPr lang="en-US" sz="1200" i="1" dirty="0">
                <a:solidFill>
                  <a:srgbClr val="CCCCCC"/>
                </a:solidFill>
                <a:latin typeface="Calibri" pitchFamily="34" charset="0"/>
                <a:ea typeface="Calibri" pitchFamily="34" charset="-122"/>
                <a:cs typeface="Calibri" pitchFamily="34" charset="-120"/>
              </a:rPr>
              <a:t>  —  [HOST_2_MOVIE_REASON_AGENT]</a:t>
            </a:r>
            <a:endParaRPr lang="en-US" sz="1200" dirty="0"/>
          </a:p>
        </p:txBody>
      </p:sp>
      <p:sp>
        <p:nvSpPr>
          <p:cNvPr id="26" name="Text 20"/>
          <p:cNvSpPr txBox="1"/>
          <p:nvPr/>
        </p:nvSpPr>
        <p:spPr>
          <a:xfrm>
            <a:off x="6583680" y="4023360"/>
            <a:ext cx="4937760" cy="201168"/>
          </a:xfrm>
          <a:prstGeom prst="rect">
            <a:avLst/>
          </a:prstGeom>
          <a:noFill/>
          <a:ln/>
        </p:spPr>
        <p:txBody>
          <a:bodyPr wrap="square" lIns="0" tIns="0" rIns="0" bIns="0" rtlCol="0" anchor="ctr"/>
          <a:lstStyle/>
          <a:p>
            <a:pPr indent="0" marL="0">
              <a:buNone/>
            </a:pPr>
            <a:r>
              <a:rPr lang="en-US" sz="1000" b="1" dirty="0">
                <a:solidFill>
                  <a:srgbClr val="00D4D8"/>
                </a:solidFill>
                <a:latin typeface="Courier New" pitchFamily="34" charset="0"/>
                <a:ea typeface="Courier New" pitchFamily="34" charset="-122"/>
                <a:cs typeface="Courier New" pitchFamily="34" charset="-120"/>
              </a:rPr>
              <a:t>IF I WERE AN AGENT:</a:t>
            </a:r>
            <a:endParaRPr lang="en-US" sz="1000" dirty="0"/>
          </a:p>
        </p:txBody>
      </p:sp>
      <p:sp>
        <p:nvSpPr>
          <p:cNvPr id="27" name="Text 21"/>
          <p:cNvSpPr txBox="1"/>
          <p:nvPr/>
        </p:nvSpPr>
        <p:spPr>
          <a:xfrm>
            <a:off x="6583680" y="4242816"/>
            <a:ext cx="4937760" cy="56692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[HOST_2_IF_AGENT_AGENT]</a:t>
            </a:r>
            <a:endParaRPr lang="en-US" sz="1100" dirty="0"/>
          </a:p>
        </p:txBody>
      </p:sp>
      <p:sp>
        <p:nvSpPr>
          <p:cNvPr id="28" name="Text 22"/>
          <p:cNvSpPr txBox="1"/>
          <p:nvPr/>
        </p:nvSpPr>
        <p:spPr>
          <a:xfrm>
            <a:off x="6583680" y="4864608"/>
            <a:ext cx="4937760" cy="201168"/>
          </a:xfrm>
          <a:prstGeom prst="rect">
            <a:avLst/>
          </a:prstGeom>
          <a:noFill/>
          <a:ln/>
        </p:spPr>
        <p:txBody>
          <a:bodyPr wrap="square" lIns="0" tIns="0" rIns="0" bIns="0" rtlCol="0" anchor="ctr"/>
          <a:lstStyle/>
          <a:p>
            <a:pPr indent="0" marL="0">
              <a:buNone/>
            </a:pPr>
            <a:r>
              <a:rPr lang="en-US" sz="1000" b="1" dirty="0">
                <a:solidFill>
                  <a:srgbClr val="00D4D8"/>
                </a:solidFill>
                <a:latin typeface="Courier New" pitchFamily="34" charset="0"/>
                <a:ea typeface="Courier New" pitchFamily="34" charset="-122"/>
                <a:cs typeface="Courier New" pitchFamily="34" charset="-120"/>
              </a:rPr>
              <a:t>BIO:</a:t>
            </a:r>
            <a:endParaRPr lang="en-US" sz="1000" dirty="0"/>
          </a:p>
        </p:txBody>
      </p:sp>
      <p:sp>
        <p:nvSpPr>
          <p:cNvPr id="29" name="Text 23"/>
          <p:cNvSpPr txBox="1"/>
          <p:nvPr/>
        </p:nvSpPr>
        <p:spPr>
          <a:xfrm>
            <a:off x="6583680" y="5084064"/>
            <a:ext cx="4937760" cy="1005840"/>
          </a:xfrm>
          <a:prstGeom prst="rect">
            <a:avLst/>
          </a:prstGeom>
          <a:noFill/>
          <a:ln/>
        </p:spPr>
        <p:txBody>
          <a:bodyPr wrap="square" lIns="0" tIns="0" rIns="0" bIns="0" rtlCol="0" anchor="t"/>
          <a:lstStyle/>
          <a:p>
            <a:pPr indent="0" marL="0">
              <a:buNone/>
            </a:pPr>
            <a:r>
              <a:rPr lang="en-US" sz="1100" dirty="0">
                <a:solidFill>
                  <a:srgbClr val="CCCCCC"/>
                </a:solidFill>
                <a:latin typeface="Calibri" pitchFamily="34" charset="0"/>
                <a:ea typeface="Calibri" pitchFamily="34" charset="-122"/>
                <a:cs typeface="Calibri" pitchFamily="34" charset="-120"/>
              </a:rPr>
              <a:t>[HOST_2_BIO_AGENT]</a:t>
            </a:r>
            <a:endParaRPr lang="en-US" sz="1100" dirty="0"/>
          </a:p>
        </p:txBody>
      </p:sp>
      <p:sp>
        <p:nvSpPr>
          <p:cNvPr id="30" name="Text 24"/>
          <p:cNvSpPr txBox="1"/>
          <p:nvPr/>
        </p:nvSpPr>
        <p:spPr>
          <a:xfrm>
            <a:off x="694944" y="6291072"/>
            <a:ext cx="10789920" cy="411480"/>
          </a:xfrm>
          <a:prstGeom prst="rect">
            <a:avLst/>
          </a:prstGeom>
          <a:noFill/>
          <a:ln/>
        </p:spPr>
        <p:txBody>
          <a:bodyPr wrap="square" lIns="0" tIns="0" rIns="0" bIns="0" rtlCol="0" anchor="t"/>
          <a:lstStyle/>
          <a:p>
            <a:pPr algn="ctr" indent="0" marL="0">
              <a:buNone/>
            </a:pPr>
            <a:r>
              <a:rPr lang="en-US" sz="1100" i="1" dirty="0">
                <a:solidFill>
                  <a:srgbClr val="A9A29A"/>
                </a:solidFill>
                <a:latin typeface="Calibri" pitchFamily="34" charset="0"/>
                <a:ea typeface="Calibri" pitchFamily="34" charset="-122"/>
                <a:cs typeface="Calibri" pitchFamily="34" charset="-120"/>
              </a:rPr>
              <a:t>LinkedIn roast: [HOST_2_ROAST]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turing.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60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502920"/>
            <a:ext cx="9326880" cy="320040"/>
          </a:xfrm>
          <a:prstGeom prst="rect">
            <a:avLst/>
          </a:prstGeom>
          <a:noFill/>
          <a:ln/>
        </p:spPr>
        <p:txBody>
          <a:bodyPr wrap="square" lIns="0" tIns="0" rIns="0" bIns="0" rtlCol="0" anchor="ctr"/>
          <a:lstStyle/>
          <a:p>
            <a:pPr indent="0" marL="0">
              <a:buNone/>
            </a:pPr>
            <a:r>
              <a:rPr lang="en-US" sz="1100" b="1" spc="100" kern="0" dirty="0">
                <a:solidFill>
                  <a:srgbClr val="CFFF00"/>
                </a:solidFill>
                <a:latin typeface="Courier New" pitchFamily="34" charset="0"/>
                <a:ea typeface="Courier New" pitchFamily="34" charset="-122"/>
                <a:cs typeface="Courier New" pitchFamily="34" charset="-120"/>
              </a:rPr>
              <a:t>FIELD SOBRIETY TEST</a:t>
            </a:r>
            <a:endParaRPr lang="en-US" sz="1100" dirty="0"/>
          </a:p>
        </p:txBody>
      </p:sp>
      <p:sp>
        <p:nvSpPr>
          <p:cNvPr id="9" name="Text 5"/>
          <p:cNvSpPr txBox="1"/>
          <p:nvPr/>
        </p:nvSpPr>
        <p:spPr>
          <a:xfrm>
            <a:off x="694944" y="1005840"/>
            <a:ext cx="9601200" cy="128016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The Turing Test</a:t>
            </a:r>
            <a:endParaRPr lang="en-US" sz="4000" dirty="0"/>
          </a:p>
        </p:txBody>
      </p:sp>
      <p:sp>
        <p:nvSpPr>
          <p:cNvPr id="10" name="Text 6"/>
          <p:cNvSpPr txBox="1"/>
          <p:nvPr/>
        </p:nvSpPr>
        <p:spPr>
          <a:xfrm>
            <a:off x="694944" y="2377440"/>
            <a:ext cx="9601200" cy="640080"/>
          </a:xfrm>
          <a:prstGeom prst="rect">
            <a:avLst/>
          </a:prstGeom>
          <a:noFill/>
          <a:ln/>
        </p:spPr>
        <p:txBody>
          <a:bodyPr wrap="square" lIns="0" tIns="0" rIns="0" bIns="0" rtlCol="0" anchor="t"/>
          <a:lstStyle/>
          <a:p>
            <a:pPr indent="0" marL="0">
              <a:buNone/>
            </a:pPr>
            <a:r>
              <a:rPr lang="en-US" sz="2200" i="1" dirty="0">
                <a:solidFill>
                  <a:srgbClr val="CFFF00"/>
                </a:solidFill>
                <a:latin typeface="Georgia" pitchFamily="34" charset="0"/>
                <a:ea typeface="Georgia" pitchFamily="34" charset="-122"/>
                <a:cs typeface="Georgia" pitchFamily="34" charset="-120"/>
              </a:rPr>
              <a:t>Can you tell human from machine?</a:t>
            </a:r>
            <a:endParaRPr lang="en-US" sz="2200" dirty="0"/>
          </a:p>
        </p:txBody>
      </p:sp>
      <p:sp>
        <p:nvSpPr>
          <p:cNvPr id="11" name="Text 7"/>
          <p:cNvSpPr txBox="1"/>
          <p:nvPr/>
        </p:nvSpPr>
        <p:spPr>
          <a:xfrm>
            <a:off x="694944" y="3063240"/>
            <a:ext cx="9601200" cy="7315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We're running four rounds. Text → Photo → Song → Voice (hardest last).</a:t>
            </a:r>
            <a:endParaRPr lang="en-US" sz="1600" dirty="0"/>
          </a:p>
        </p:txBody>
      </p:sp>
      <p:sp>
        <p:nvSpPr>
          <p:cNvPr id="12" name="Text 8"/>
          <p:cNvSpPr txBox="1"/>
          <p:nvPr/>
        </p:nvSpPr>
        <p:spPr>
          <a:xfrm>
            <a:off x="694944" y="4114800"/>
            <a:ext cx="10515600" cy="914400"/>
          </a:xfrm>
          <a:prstGeom prst="rect">
            <a:avLst/>
          </a:prstGeom>
          <a:noFill/>
          <a:ln/>
        </p:spPr>
        <p:txBody>
          <a:bodyPr wrap="square" lIns="0" tIns="0" rIns="0" bIns="0" rtlCol="0" anchor="ctr"/>
          <a:lstStyle/>
          <a:p>
            <a:pPr algn="ctr" indent="0" marL="0">
              <a:buNone/>
            </a:pPr>
            <a:r>
              <a:rPr lang="en-US" sz="2800" b="1" dirty="0">
                <a:solidFill>
                  <a:srgbClr val="CFFF00"/>
                </a:solidFill>
                <a:latin typeface="Arial" pitchFamily="34" charset="0"/>
                <a:ea typeface="Arial" pitchFamily="34" charset="-122"/>
                <a:cs typeface="Arial" pitchFamily="34" charset="-120"/>
              </a:rPr>
              <a:t>Type A or B in chat — on 3.</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divider.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40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457200"/>
            <a:ext cx="9326880" cy="64008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The Rounds</a:t>
            </a:r>
            <a:endParaRPr lang="en-US" sz="3600" dirty="0"/>
          </a:p>
        </p:txBody>
      </p:sp>
      <p:sp>
        <p:nvSpPr>
          <p:cNvPr id="9" name="Shape 5"/>
          <p:cNvSpPr/>
          <p:nvPr/>
        </p:nvSpPr>
        <p:spPr>
          <a:xfrm>
            <a:off x="694944" y="1371600"/>
            <a:ext cx="5303520" cy="2377440"/>
          </a:xfrm>
          <a:prstGeom prst="rect">
            <a:avLst/>
          </a:prstGeom>
          <a:solidFill>
            <a:srgbClr val="0B1F44">
              <a:alpha val="75000"/>
            </a:srgbClr>
          </a:solidFill>
          <a:ln w="9525">
            <a:solidFill>
              <a:srgbClr val="00D4D8">
                <a:alpha val="40000"/>
              </a:srgbClr>
            </a:solidFill>
            <a:prstDash val="solid"/>
          </a:ln>
        </p:spPr>
      </p:sp>
      <p:sp>
        <p:nvSpPr>
          <p:cNvPr id="10" name="Text 6"/>
          <p:cNvSpPr txBox="1"/>
          <p:nvPr/>
        </p:nvSpPr>
        <p:spPr>
          <a:xfrm>
            <a:off x="969264" y="1691640"/>
            <a:ext cx="4754880" cy="365760"/>
          </a:xfrm>
          <a:prstGeom prst="rect">
            <a:avLst/>
          </a:prstGeom>
          <a:noFill/>
          <a:ln/>
        </p:spPr>
        <p:txBody>
          <a:bodyPr wrap="square" lIns="0" tIns="0" rIns="0" bIns="0" rtlCol="0" anchor="ctr"/>
          <a:lstStyle/>
          <a:p>
            <a:pPr algn="ctr" indent="0" marL="0">
              <a:buNone/>
            </a:pPr>
            <a:r>
              <a:rPr lang="en-US" sz="1200" b="1" spc="100" kern="0" dirty="0">
                <a:solidFill>
                  <a:srgbClr val="00D4D8"/>
                </a:solidFill>
                <a:latin typeface="Courier New" pitchFamily="34" charset="0"/>
                <a:ea typeface="Courier New" pitchFamily="34" charset="-122"/>
                <a:cs typeface="Courier New" pitchFamily="34" charset="-120"/>
              </a:rPr>
              <a:t>Round 1: TEXT</a:t>
            </a:r>
            <a:endParaRPr lang="en-US" sz="1200" dirty="0"/>
          </a:p>
        </p:txBody>
      </p:sp>
      <p:sp>
        <p:nvSpPr>
          <p:cNvPr id="11" name="Text 7"/>
          <p:cNvSpPr txBox="1"/>
          <p:nvPr/>
        </p:nvSpPr>
        <p:spPr>
          <a:xfrm>
            <a:off x="1060704" y="2194560"/>
            <a:ext cx="4572000" cy="12801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Round 1: Text — Which bio was written by an AI?</a:t>
            </a:r>
            <a:endParaRPr lang="en-US" sz="1400" dirty="0"/>
          </a:p>
        </p:txBody>
      </p:sp>
      <p:sp>
        <p:nvSpPr>
          <p:cNvPr id="12" name="Shape 8"/>
          <p:cNvSpPr/>
          <p:nvPr/>
        </p:nvSpPr>
        <p:spPr>
          <a:xfrm>
            <a:off x="6400800" y="1371600"/>
            <a:ext cx="5303520" cy="2377440"/>
          </a:xfrm>
          <a:prstGeom prst="rect">
            <a:avLst/>
          </a:prstGeom>
          <a:solidFill>
            <a:srgbClr val="0B1F44">
              <a:alpha val="75000"/>
            </a:srgbClr>
          </a:solidFill>
          <a:ln w="9525">
            <a:solidFill>
              <a:srgbClr val="00D4D8">
                <a:alpha val="40000"/>
              </a:srgbClr>
            </a:solidFill>
            <a:prstDash val="solid"/>
          </a:ln>
        </p:spPr>
      </p:sp>
      <p:sp>
        <p:nvSpPr>
          <p:cNvPr id="13" name="Text 9"/>
          <p:cNvSpPr txBox="1"/>
          <p:nvPr/>
        </p:nvSpPr>
        <p:spPr>
          <a:xfrm>
            <a:off x="6675120" y="1691640"/>
            <a:ext cx="4754880" cy="365760"/>
          </a:xfrm>
          <a:prstGeom prst="rect">
            <a:avLst/>
          </a:prstGeom>
          <a:noFill/>
          <a:ln/>
        </p:spPr>
        <p:txBody>
          <a:bodyPr wrap="square" lIns="0" tIns="0" rIns="0" bIns="0" rtlCol="0" anchor="ctr"/>
          <a:lstStyle/>
          <a:p>
            <a:pPr algn="ctr" indent="0" marL="0">
              <a:buNone/>
            </a:pPr>
            <a:r>
              <a:rPr lang="en-US" sz="1200" b="1" spc="100" kern="0" dirty="0">
                <a:solidFill>
                  <a:srgbClr val="00D4D8"/>
                </a:solidFill>
                <a:latin typeface="Courier New" pitchFamily="34" charset="0"/>
                <a:ea typeface="Courier New" pitchFamily="34" charset="-122"/>
                <a:cs typeface="Courier New" pitchFamily="34" charset="-120"/>
              </a:rPr>
              <a:t>Round 2: PHOTO</a:t>
            </a:r>
            <a:endParaRPr lang="en-US" sz="1200" dirty="0"/>
          </a:p>
        </p:txBody>
      </p:sp>
      <p:sp>
        <p:nvSpPr>
          <p:cNvPr id="14" name="Text 10"/>
          <p:cNvSpPr txBox="1"/>
          <p:nvPr/>
        </p:nvSpPr>
        <p:spPr>
          <a:xfrm>
            <a:off x="6766560" y="2194560"/>
            <a:ext cx="4572000" cy="12801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Round 2: Photo — Real team photo or AI-generated?</a:t>
            </a:r>
            <a:endParaRPr lang="en-US" sz="1400" dirty="0"/>
          </a:p>
        </p:txBody>
      </p:sp>
      <p:sp>
        <p:nvSpPr>
          <p:cNvPr id="15" name="Shape 11"/>
          <p:cNvSpPr/>
          <p:nvPr/>
        </p:nvSpPr>
        <p:spPr>
          <a:xfrm>
            <a:off x="694944" y="3931920"/>
            <a:ext cx="5303520" cy="2377440"/>
          </a:xfrm>
          <a:prstGeom prst="rect">
            <a:avLst/>
          </a:prstGeom>
          <a:solidFill>
            <a:srgbClr val="0B1F44">
              <a:alpha val="75000"/>
            </a:srgbClr>
          </a:solidFill>
          <a:ln w="9525">
            <a:solidFill>
              <a:srgbClr val="00D4D8">
                <a:alpha val="40000"/>
              </a:srgbClr>
            </a:solidFill>
            <a:prstDash val="solid"/>
          </a:ln>
        </p:spPr>
      </p:sp>
      <p:sp>
        <p:nvSpPr>
          <p:cNvPr id="16" name="Text 12"/>
          <p:cNvSpPr txBox="1"/>
          <p:nvPr/>
        </p:nvSpPr>
        <p:spPr>
          <a:xfrm>
            <a:off x="969264" y="4251960"/>
            <a:ext cx="4754880" cy="365760"/>
          </a:xfrm>
          <a:prstGeom prst="rect">
            <a:avLst/>
          </a:prstGeom>
          <a:noFill/>
          <a:ln/>
        </p:spPr>
        <p:txBody>
          <a:bodyPr wrap="square" lIns="0" tIns="0" rIns="0" bIns="0" rtlCol="0" anchor="ctr"/>
          <a:lstStyle/>
          <a:p>
            <a:pPr algn="ctr" indent="0" marL="0">
              <a:buNone/>
            </a:pPr>
            <a:r>
              <a:rPr lang="en-US" sz="1200" b="1" spc="100" kern="0" dirty="0">
                <a:solidFill>
                  <a:srgbClr val="00D4D8"/>
                </a:solidFill>
                <a:latin typeface="Courier New" pitchFamily="34" charset="0"/>
                <a:ea typeface="Courier New" pitchFamily="34" charset="-122"/>
                <a:cs typeface="Courier New" pitchFamily="34" charset="-120"/>
              </a:rPr>
              <a:t>Round 3: SONG</a:t>
            </a:r>
            <a:endParaRPr lang="en-US" sz="1200" dirty="0"/>
          </a:p>
        </p:txBody>
      </p:sp>
      <p:sp>
        <p:nvSpPr>
          <p:cNvPr id="17" name="Text 13"/>
          <p:cNvSpPr txBox="1"/>
          <p:nvPr/>
        </p:nvSpPr>
        <p:spPr>
          <a:xfrm>
            <a:off x="1060704" y="4754880"/>
            <a:ext cx="4572000" cy="12801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Round 3: Song — Human-made or Suno AI?</a:t>
            </a:r>
            <a:endParaRPr lang="en-US" sz="1400" dirty="0"/>
          </a:p>
        </p:txBody>
      </p:sp>
      <p:sp>
        <p:nvSpPr>
          <p:cNvPr id="18" name="Shape 14"/>
          <p:cNvSpPr/>
          <p:nvPr/>
        </p:nvSpPr>
        <p:spPr>
          <a:xfrm>
            <a:off x="6400800" y="3931920"/>
            <a:ext cx="5303520" cy="2377440"/>
          </a:xfrm>
          <a:prstGeom prst="rect">
            <a:avLst/>
          </a:prstGeom>
          <a:solidFill>
            <a:srgbClr val="0B1F44">
              <a:alpha val="75000"/>
            </a:srgbClr>
          </a:solidFill>
          <a:ln w="9525">
            <a:solidFill>
              <a:srgbClr val="00D4D8">
                <a:alpha val="40000"/>
              </a:srgbClr>
            </a:solidFill>
            <a:prstDash val="solid"/>
          </a:ln>
        </p:spPr>
      </p:sp>
      <p:sp>
        <p:nvSpPr>
          <p:cNvPr id="19" name="Text 15"/>
          <p:cNvSpPr txBox="1"/>
          <p:nvPr/>
        </p:nvSpPr>
        <p:spPr>
          <a:xfrm>
            <a:off x="6675120" y="4251960"/>
            <a:ext cx="4754880" cy="365760"/>
          </a:xfrm>
          <a:prstGeom prst="rect">
            <a:avLst/>
          </a:prstGeom>
          <a:noFill/>
          <a:ln/>
        </p:spPr>
        <p:txBody>
          <a:bodyPr wrap="square" lIns="0" tIns="0" rIns="0" bIns="0" rtlCol="0" anchor="ctr"/>
          <a:lstStyle/>
          <a:p>
            <a:pPr algn="ctr" indent="0" marL="0">
              <a:buNone/>
            </a:pPr>
            <a:r>
              <a:rPr lang="en-US" sz="1200" b="1" spc="100" kern="0" dirty="0">
                <a:solidFill>
                  <a:srgbClr val="00D4D8"/>
                </a:solidFill>
                <a:latin typeface="Courier New" pitchFamily="34" charset="0"/>
                <a:ea typeface="Courier New" pitchFamily="34" charset="-122"/>
                <a:cs typeface="Courier New" pitchFamily="34" charset="-120"/>
              </a:rPr>
              <a:t>Round 4: VOICE</a:t>
            </a:r>
            <a:endParaRPr lang="en-US" sz="1200" dirty="0"/>
          </a:p>
        </p:txBody>
      </p:sp>
      <p:sp>
        <p:nvSpPr>
          <p:cNvPr id="20" name="Text 16"/>
          <p:cNvSpPr txBox="1"/>
          <p:nvPr/>
        </p:nvSpPr>
        <p:spPr>
          <a:xfrm>
            <a:off x="6766560" y="4754880"/>
            <a:ext cx="4572000" cy="12801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Round 4: Voice — Real voice or ElevenLabs clone? 🎤 FINAL ROUND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punchlin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50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2194560"/>
            <a:ext cx="10515600" cy="2286000"/>
          </a:xfrm>
          <a:prstGeom prst="rect">
            <a:avLst/>
          </a:prstGeom>
          <a:noFill/>
          <a:ln/>
        </p:spPr>
        <p:txBody>
          <a:bodyPr wrap="square" lIns="0" tIns="0" rIns="0" bIns="0" rtlCol="0" anchor="ctr"/>
          <a:lstStyle/>
          <a:p>
            <a:pPr algn="ctr" indent="0" marL="0">
              <a:buNone/>
            </a:pPr>
            <a:r>
              <a:rPr lang="en-US" sz="3200" i="1" dirty="0">
                <a:solidFill>
                  <a:srgbClr val="FFFFFF"/>
                </a:solidFill>
                <a:latin typeface="Georgia" pitchFamily="34" charset="0"/>
                <a:ea typeface="Georgia" pitchFamily="34" charset="-122"/>
                <a:cs typeface="Georgia" pitchFamily="34" charset="-120"/>
              </a:rPr>
              <a:t>You'll never know if this deck was made by a human or an agent…</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divider.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55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731520"/>
            <a:ext cx="1645920" cy="1645920"/>
          </a:xfrm>
          <a:prstGeom prst="rect">
            <a:avLst/>
          </a:prstGeom>
          <a:noFill/>
          <a:ln/>
        </p:spPr>
        <p:txBody>
          <a:bodyPr wrap="square" lIns="0" tIns="0" rIns="0" bIns="0" rtlCol="0" anchor="ctr"/>
          <a:lstStyle/>
          <a:p>
            <a:pPr algn="l" indent="0" marL="0">
              <a:buNone/>
            </a:pPr>
            <a:r>
              <a:rPr lang="en-US" sz="8000" b="1" dirty="0">
                <a:solidFill>
                  <a:srgbClr val="00D4D8"/>
                </a:solidFill>
                <a:latin typeface="Arial" pitchFamily="34" charset="0"/>
                <a:ea typeface="Arial" pitchFamily="34" charset="-122"/>
                <a:cs typeface="Arial" pitchFamily="34" charset="-120"/>
              </a:rPr>
              <a:t>★</a:t>
            </a:r>
            <a:endParaRPr lang="en-US" sz="8000" dirty="0"/>
          </a:p>
        </p:txBody>
      </p:sp>
      <p:sp>
        <p:nvSpPr>
          <p:cNvPr id="9" name="Text 5"/>
          <p:cNvSpPr txBox="1"/>
          <p:nvPr/>
        </p:nvSpPr>
        <p:spPr>
          <a:xfrm>
            <a:off x="694944" y="2468880"/>
            <a:ext cx="9601200" cy="91440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Shout Outs</a:t>
            </a:r>
            <a:endParaRPr lang="en-US" sz="4000" dirty="0"/>
          </a:p>
        </p:txBody>
      </p:sp>
      <p:sp>
        <p:nvSpPr>
          <p:cNvPr id="10" name="Text 6"/>
          <p:cNvSpPr txBox="1"/>
          <p:nvPr/>
        </p:nvSpPr>
        <p:spPr>
          <a:xfrm>
            <a:off x="694944" y="3566160"/>
            <a:ext cx="9601200" cy="14630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[SHOUTOUT_1_PLACEHOLDER] · [SHOUTOUT_2_PLACEHOLDER] · [SHOUTOUT_3_PLACEHOLDER]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divider.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55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731520"/>
            <a:ext cx="1645920" cy="1645920"/>
          </a:xfrm>
          <a:prstGeom prst="rect">
            <a:avLst/>
          </a:prstGeom>
          <a:noFill/>
          <a:ln/>
        </p:spPr>
        <p:txBody>
          <a:bodyPr wrap="square" lIns="0" tIns="0" rIns="0" bIns="0" rtlCol="0" anchor="ctr"/>
          <a:lstStyle/>
          <a:p>
            <a:pPr algn="l" indent="0" marL="0">
              <a:buNone/>
            </a:pPr>
            <a:r>
              <a:rPr lang="en-US" sz="8000" b="1" dirty="0">
                <a:solidFill>
                  <a:srgbClr val="CFFF00"/>
                </a:solidFill>
                <a:latin typeface="Arial" pitchFamily="34" charset="0"/>
                <a:ea typeface="Arial" pitchFamily="34" charset="-122"/>
                <a:cs typeface="Arial" pitchFamily="34" charset="-120"/>
              </a:rPr>
              <a:t>◆</a:t>
            </a:r>
            <a:endParaRPr lang="en-US" sz="8000" dirty="0"/>
          </a:p>
        </p:txBody>
      </p:sp>
      <p:sp>
        <p:nvSpPr>
          <p:cNvPr id="9" name="Text 5"/>
          <p:cNvSpPr txBox="1"/>
          <p:nvPr/>
        </p:nvSpPr>
        <p:spPr>
          <a:xfrm>
            <a:off x="694944" y="2468880"/>
            <a:ext cx="9601200" cy="91440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Black Diamond Awards</a:t>
            </a:r>
            <a:endParaRPr lang="en-US" sz="4000" dirty="0"/>
          </a:p>
        </p:txBody>
      </p:sp>
      <p:sp>
        <p:nvSpPr>
          <p:cNvPr id="10" name="Text 6"/>
          <p:cNvSpPr txBox="1"/>
          <p:nvPr/>
        </p:nvSpPr>
        <p:spPr>
          <a:xfrm>
            <a:off x="694944" y="3566160"/>
            <a:ext cx="9601200" cy="14630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Recognize excellence in client delivery and community. Deadline: September 11, 2026.</a:t>
            </a:r>
            <a:endParaRPr lang="en-US" sz="1600" dirty="0"/>
          </a:p>
        </p:txBody>
      </p:sp>
      <p:sp>
        <p:nvSpPr>
          <p:cNvPr id="11" name="Shape 7"/>
          <p:cNvSpPr/>
          <p:nvPr/>
        </p:nvSpPr>
        <p:spPr>
          <a:xfrm>
            <a:off x="694944" y="5029200"/>
            <a:ext cx="3200400" cy="548640"/>
          </a:xfrm>
          <a:prstGeom prst="rect">
            <a:avLst/>
          </a:prstGeom>
          <a:solidFill>
            <a:srgbClr val="CFFF00"/>
          </a:solidFill>
          <a:ln/>
        </p:spPr>
      </p:sp>
      <p:sp>
        <p:nvSpPr>
          <p:cNvPr id="12" name="Text 8">
            <a:hlinkClick r:id="rId3" tooltip=""/>
          </p:cNvPr>
          <p:cNvSpPr txBox="1"/>
          <p:nvPr/>
        </p:nvSpPr>
        <p:spPr>
          <a:xfrm>
            <a:off x="694944" y="5029200"/>
            <a:ext cx="3200400" cy="548640"/>
          </a:xfrm>
          <a:prstGeom prst="rect">
            <a:avLst/>
          </a:prstGeom>
          <a:noFill/>
          <a:ln/>
        </p:spPr>
        <p:txBody>
          <a:bodyPr wrap="square" lIns="0" tIns="0" rIns="0" bIns="0" rtlCol="0" anchor="ctr"/>
          <a:lstStyle/>
          <a:p>
            <a:pPr algn="ctr" indent="0" marL="0">
              <a:buNone/>
            </a:pPr>
            <a:r>
              <a:rPr lang="en-US" sz="1400" b="1" u="sng" dirty="0">
                <a:solidFill>
                  <a:srgbClr val="151515"/>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SUBMIT HERE →</a:t>
            </a:r>
            <a:endParaRPr lang="en-US" sz="1400" dirty="0"/>
          </a:p>
        </p:txBody>
      </p:sp>
      <p:sp>
        <p:nvSpPr>
          <p:cNvPr id="13" name="Text 9"/>
          <p:cNvSpPr txBox="1"/>
          <p:nvPr/>
        </p:nvSpPr>
        <p:spPr>
          <a:xfrm>
            <a:off x="694944" y="5760720"/>
            <a:ext cx="10515600" cy="320040"/>
          </a:xfrm>
          <a:prstGeom prst="rect">
            <a:avLst/>
          </a:prstGeom>
          <a:noFill/>
          <a:ln/>
        </p:spPr>
        <p:txBody>
          <a:bodyPr wrap="square" lIns="0" tIns="0" rIns="0" bIns="0" rtlCol="0" anchor="t"/>
          <a:lstStyle/>
          <a:p>
            <a:pPr algn="l" indent="0" marL="0">
              <a:buNone/>
            </a:pPr>
            <a:r>
              <a:rPr lang="en-US" sz="1200" dirty="0">
                <a:solidFill>
                  <a:srgbClr val="A9A29A"/>
                </a:solidFill>
                <a:latin typeface="Calibri" pitchFamily="34" charset="0"/>
                <a:ea typeface="Calibri" pitchFamily="34" charset="-122"/>
                <a:cs typeface="Calibri" pitchFamily="34" charset="-120"/>
              </a:rPr>
              <a:t>Awards ceremony: December 2026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divider.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55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731520"/>
            <a:ext cx="1645920" cy="1645920"/>
          </a:xfrm>
          <a:prstGeom prst="rect">
            <a:avLst/>
          </a:prstGeom>
          <a:noFill/>
          <a:ln/>
        </p:spPr>
        <p:txBody>
          <a:bodyPr wrap="square" lIns="0" tIns="0" rIns="0" bIns="0" rtlCol="0" anchor="ctr"/>
          <a:lstStyle/>
          <a:p>
            <a:pPr algn="l" indent="0" marL="0">
              <a:buNone/>
            </a:pPr>
            <a:r>
              <a:rPr lang="en-US" sz="8000" b="1" dirty="0">
                <a:solidFill>
                  <a:srgbClr val="FF4F7B"/>
                </a:solidFill>
                <a:latin typeface="Arial" pitchFamily="34" charset="0"/>
                <a:ea typeface="Arial" pitchFamily="34" charset="-122"/>
                <a:cs typeface="Arial" pitchFamily="34" charset="-120"/>
              </a:rPr>
              <a:t>◉</a:t>
            </a:r>
            <a:endParaRPr lang="en-US" sz="8000" dirty="0"/>
          </a:p>
        </p:txBody>
      </p:sp>
      <p:sp>
        <p:nvSpPr>
          <p:cNvPr id="9" name="Text 5"/>
          <p:cNvSpPr txBox="1"/>
          <p:nvPr/>
        </p:nvSpPr>
        <p:spPr>
          <a:xfrm>
            <a:off x="694944" y="2468880"/>
            <a:ext cx="9601200" cy="91440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Work Spotlights</a:t>
            </a:r>
            <a:endParaRPr lang="en-US" sz="4000" dirty="0"/>
          </a:p>
        </p:txBody>
      </p:sp>
      <p:sp>
        <p:nvSpPr>
          <p:cNvPr id="10" name="Text 6"/>
          <p:cNvSpPr txBox="1"/>
          <p:nvPr/>
        </p:nvSpPr>
        <p:spPr>
          <a:xfrm>
            <a:off x="694944" y="3566160"/>
            <a:ext cx="9601200" cy="14630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[SPOTLIGHT_PROJECT_PLACEHOLDER] · [SPOTLIGHT_CONTACT_PLACEHOLDER]</a:t>
            </a:r>
            <a:endParaRPr lang="en-US" sz="1600" dirty="0"/>
          </a:p>
        </p:txBody>
      </p:sp>
      <p:sp>
        <p:nvSpPr>
          <p:cNvPr id="11" name="Text 7"/>
          <p:cNvSpPr txBox="1"/>
          <p:nvPr/>
        </p:nvSpPr>
        <p:spPr>
          <a:xfrm>
            <a:off x="694944" y="4754880"/>
            <a:ext cx="10515600" cy="320040"/>
          </a:xfrm>
          <a:prstGeom prst="rect">
            <a:avLst/>
          </a:prstGeom>
          <a:noFill/>
          <a:ln/>
        </p:spPr>
        <p:txBody>
          <a:bodyPr wrap="square" lIns="0" tIns="0" rIns="0" bIns="0" rtlCol="0" anchor="t"/>
          <a:lstStyle/>
          <a:p>
            <a:pPr algn="l" indent="0" marL="0">
              <a:buNone/>
            </a:pPr>
            <a:r>
              <a:rPr lang="en-US" sz="1300" i="1" dirty="0">
                <a:solidFill>
                  <a:srgbClr val="00D4D8"/>
                </a:solidFill>
                <a:latin typeface="Calibri" pitchFamily="34" charset="0"/>
                <a:ea typeface="Calibri" pitchFamily="34" charset="-122"/>
                <a:cs typeface="Calibri" pitchFamily="34" charset="-120"/>
              </a:rPr>
              <a:t>Summit Methodology Demo — see slide 15</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divider.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45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1371600"/>
            <a:ext cx="9601200" cy="91440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Summit Methodology Demo</a:t>
            </a:r>
            <a:endParaRPr lang="en-US" sz="3600" dirty="0"/>
          </a:p>
        </p:txBody>
      </p:sp>
      <p:sp>
        <p:nvSpPr>
          <p:cNvPr id="9" name="Text 5"/>
          <p:cNvSpPr txBox="1"/>
          <p:nvPr/>
        </p:nvSpPr>
        <p:spPr>
          <a:xfrm>
            <a:off x="694944" y="2560320"/>
            <a:ext cx="9601200" cy="14630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Presenter: [PRESENTER_PLACEHOLDER] · Topic: [DEMO_TOPIC_PLACEHOLDER]</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divider.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60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731520"/>
            <a:ext cx="1645920" cy="1645920"/>
          </a:xfrm>
          <a:prstGeom prst="rect">
            <a:avLst/>
          </a:prstGeom>
          <a:noFill/>
          <a:ln/>
        </p:spPr>
        <p:txBody>
          <a:bodyPr wrap="square" lIns="0" tIns="0" rIns="0" bIns="0" rtlCol="0" anchor="ctr"/>
          <a:lstStyle/>
          <a:p>
            <a:pPr algn="l" indent="0" marL="0">
              <a:buNone/>
            </a:pPr>
            <a:r>
              <a:rPr lang="en-US" sz="8000" b="1" dirty="0">
                <a:solidFill>
                  <a:srgbClr val="00D4D8"/>
                </a:solidFill>
                <a:latin typeface="Arial" pitchFamily="34" charset="0"/>
                <a:ea typeface="Arial" pitchFamily="34" charset="-122"/>
                <a:cs typeface="Arial" pitchFamily="34" charset="-120"/>
              </a:rPr>
              <a:t>✓</a:t>
            </a:r>
            <a:endParaRPr lang="en-US" sz="8000" dirty="0"/>
          </a:p>
        </p:txBody>
      </p:sp>
      <p:sp>
        <p:nvSpPr>
          <p:cNvPr id="9" name="Text 5"/>
          <p:cNvSpPr txBox="1"/>
          <p:nvPr/>
        </p:nvSpPr>
        <p:spPr>
          <a:xfrm>
            <a:off x="694944" y="2331720"/>
            <a:ext cx="9601200"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State of the Business</a:t>
            </a:r>
            <a:endParaRPr lang="en-US" sz="4000" dirty="0"/>
          </a:p>
        </p:txBody>
      </p:sp>
      <p:sp>
        <p:nvSpPr>
          <p:cNvPr id="10" name="Shape 6"/>
          <p:cNvSpPr/>
          <p:nvPr/>
        </p:nvSpPr>
        <p:spPr>
          <a:xfrm>
            <a:off x="694944" y="3200400"/>
            <a:ext cx="5303520" cy="1280160"/>
          </a:xfrm>
          <a:prstGeom prst="rect">
            <a:avLst/>
          </a:prstGeom>
          <a:solidFill>
            <a:srgbClr val="0B1F44">
              <a:alpha val="80000"/>
            </a:srgbClr>
          </a:solidFill>
          <a:ln w="9525">
            <a:solidFill>
              <a:srgbClr val="00D4D8">
                <a:alpha val="40000"/>
              </a:srgbClr>
            </a:solidFill>
            <a:prstDash val="solid"/>
          </a:ln>
        </p:spPr>
      </p:sp>
      <p:sp>
        <p:nvSpPr>
          <p:cNvPr id="11" name="Text 7"/>
          <p:cNvSpPr txBox="1"/>
          <p:nvPr/>
        </p:nvSpPr>
        <p:spPr>
          <a:xfrm>
            <a:off x="923544" y="3310128"/>
            <a:ext cx="4846320" cy="685800"/>
          </a:xfrm>
          <a:prstGeom prst="rect">
            <a:avLst/>
          </a:prstGeom>
          <a:noFill/>
          <a:ln/>
        </p:spPr>
        <p:txBody>
          <a:bodyPr wrap="none" lIns="0" tIns="0" rIns="0" bIns="0" rtlCol="0" anchor="ctr"/>
          <a:lstStyle/>
          <a:p>
            <a:pPr indent="0" marL="0">
              <a:buNone/>
            </a:pPr>
            <a:r>
              <a:rPr lang="en-US" sz="2800" b="1" dirty="0">
                <a:solidFill>
                  <a:srgbClr val="CFFF00"/>
                </a:solidFill>
                <a:latin typeface="Arial" pitchFamily="34" charset="0"/>
                <a:ea typeface="Arial" pitchFamily="34" charset="-122"/>
                <a:cs typeface="Arial" pitchFamily="34" charset="-120"/>
              </a:rPr>
              <a:t>[METRIC_PLACEHOLDER]</a:t>
            </a:r>
            <a:endParaRPr lang="en-US" sz="2800" dirty="0"/>
          </a:p>
        </p:txBody>
      </p:sp>
      <p:sp>
        <p:nvSpPr>
          <p:cNvPr id="12" name="Text 8"/>
          <p:cNvSpPr txBox="1"/>
          <p:nvPr/>
        </p:nvSpPr>
        <p:spPr>
          <a:xfrm>
            <a:off x="923544" y="4005072"/>
            <a:ext cx="484632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YTD Revenue</a:t>
            </a:r>
            <a:endParaRPr lang="en-US" sz="1200" dirty="0"/>
          </a:p>
        </p:txBody>
      </p:sp>
      <p:sp>
        <p:nvSpPr>
          <p:cNvPr id="13" name="Shape 9"/>
          <p:cNvSpPr/>
          <p:nvPr/>
        </p:nvSpPr>
        <p:spPr>
          <a:xfrm>
            <a:off x="6400800" y="3200400"/>
            <a:ext cx="5303520" cy="1280160"/>
          </a:xfrm>
          <a:prstGeom prst="rect">
            <a:avLst/>
          </a:prstGeom>
          <a:solidFill>
            <a:srgbClr val="0B1F44">
              <a:alpha val="80000"/>
            </a:srgbClr>
          </a:solidFill>
          <a:ln w="9525">
            <a:solidFill>
              <a:srgbClr val="00D4D8">
                <a:alpha val="40000"/>
              </a:srgbClr>
            </a:solidFill>
            <a:prstDash val="solid"/>
          </a:ln>
        </p:spPr>
      </p:sp>
      <p:sp>
        <p:nvSpPr>
          <p:cNvPr id="14" name="Text 10"/>
          <p:cNvSpPr txBox="1"/>
          <p:nvPr/>
        </p:nvSpPr>
        <p:spPr>
          <a:xfrm>
            <a:off x="6629400" y="3310128"/>
            <a:ext cx="4846320" cy="685800"/>
          </a:xfrm>
          <a:prstGeom prst="rect">
            <a:avLst/>
          </a:prstGeom>
          <a:noFill/>
          <a:ln/>
        </p:spPr>
        <p:txBody>
          <a:bodyPr wrap="none" lIns="0" tIns="0" rIns="0" bIns="0" rtlCol="0" anchor="ctr"/>
          <a:lstStyle/>
          <a:p>
            <a:pPr indent="0" marL="0">
              <a:buNone/>
            </a:pPr>
            <a:r>
              <a:rPr lang="en-US" sz="2800" b="1" dirty="0">
                <a:solidFill>
                  <a:srgbClr val="CFFF00"/>
                </a:solidFill>
                <a:latin typeface="Arial" pitchFamily="34" charset="0"/>
                <a:ea typeface="Arial" pitchFamily="34" charset="-122"/>
                <a:cs typeface="Arial" pitchFamily="34" charset="-120"/>
              </a:rPr>
              <a:t>[METRIC_PLACEHOLDER]</a:t>
            </a:r>
            <a:endParaRPr lang="en-US" sz="2800" dirty="0"/>
          </a:p>
        </p:txBody>
      </p:sp>
      <p:sp>
        <p:nvSpPr>
          <p:cNvPr id="15" name="Text 11"/>
          <p:cNvSpPr txBox="1"/>
          <p:nvPr/>
        </p:nvSpPr>
        <p:spPr>
          <a:xfrm>
            <a:off x="6629400" y="4005072"/>
            <a:ext cx="484632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Utilization</a:t>
            </a:r>
            <a:endParaRPr lang="en-US" sz="1200" dirty="0"/>
          </a:p>
        </p:txBody>
      </p:sp>
      <p:sp>
        <p:nvSpPr>
          <p:cNvPr id="16" name="Shape 12"/>
          <p:cNvSpPr/>
          <p:nvPr/>
        </p:nvSpPr>
        <p:spPr>
          <a:xfrm>
            <a:off x="694944" y="4754880"/>
            <a:ext cx="5303520" cy="1280160"/>
          </a:xfrm>
          <a:prstGeom prst="rect">
            <a:avLst/>
          </a:prstGeom>
          <a:solidFill>
            <a:srgbClr val="0B1F44">
              <a:alpha val="80000"/>
            </a:srgbClr>
          </a:solidFill>
          <a:ln w="9525">
            <a:solidFill>
              <a:srgbClr val="00D4D8">
                <a:alpha val="40000"/>
              </a:srgbClr>
            </a:solidFill>
            <a:prstDash val="solid"/>
          </a:ln>
        </p:spPr>
      </p:sp>
      <p:sp>
        <p:nvSpPr>
          <p:cNvPr id="17" name="Text 13"/>
          <p:cNvSpPr txBox="1"/>
          <p:nvPr/>
        </p:nvSpPr>
        <p:spPr>
          <a:xfrm>
            <a:off x="923544" y="4864608"/>
            <a:ext cx="4846320" cy="685800"/>
          </a:xfrm>
          <a:prstGeom prst="rect">
            <a:avLst/>
          </a:prstGeom>
          <a:noFill/>
          <a:ln/>
        </p:spPr>
        <p:txBody>
          <a:bodyPr wrap="none" lIns="0" tIns="0" rIns="0" bIns="0" rtlCol="0" anchor="ctr"/>
          <a:lstStyle/>
          <a:p>
            <a:pPr indent="0" marL="0">
              <a:buNone/>
            </a:pPr>
            <a:r>
              <a:rPr lang="en-US" sz="2800" b="1" dirty="0">
                <a:solidFill>
                  <a:srgbClr val="CFFF00"/>
                </a:solidFill>
                <a:latin typeface="Arial" pitchFamily="34" charset="0"/>
                <a:ea typeface="Arial" pitchFamily="34" charset="-122"/>
                <a:cs typeface="Arial" pitchFamily="34" charset="-120"/>
              </a:rPr>
              <a:t>[METRIC_PLACEHOLDER]</a:t>
            </a:r>
            <a:endParaRPr lang="en-US" sz="2800" dirty="0"/>
          </a:p>
        </p:txBody>
      </p:sp>
      <p:sp>
        <p:nvSpPr>
          <p:cNvPr id="18" name="Text 14"/>
          <p:cNvSpPr txBox="1"/>
          <p:nvPr/>
        </p:nvSpPr>
        <p:spPr>
          <a:xfrm>
            <a:off x="923544" y="5559552"/>
            <a:ext cx="484632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Run Rate</a:t>
            </a:r>
            <a:endParaRPr lang="en-US" sz="1200" dirty="0"/>
          </a:p>
        </p:txBody>
      </p:sp>
      <p:sp>
        <p:nvSpPr>
          <p:cNvPr id="19" name="Shape 15"/>
          <p:cNvSpPr/>
          <p:nvPr/>
        </p:nvSpPr>
        <p:spPr>
          <a:xfrm>
            <a:off x="6400800" y="4754880"/>
            <a:ext cx="5303520" cy="1280160"/>
          </a:xfrm>
          <a:prstGeom prst="rect">
            <a:avLst/>
          </a:prstGeom>
          <a:solidFill>
            <a:srgbClr val="0B1F44">
              <a:alpha val="80000"/>
            </a:srgbClr>
          </a:solidFill>
          <a:ln w="9525">
            <a:solidFill>
              <a:srgbClr val="00D4D8">
                <a:alpha val="40000"/>
              </a:srgbClr>
            </a:solidFill>
            <a:prstDash val="solid"/>
          </a:ln>
        </p:spPr>
      </p:sp>
      <p:sp>
        <p:nvSpPr>
          <p:cNvPr id="20" name="Text 16"/>
          <p:cNvSpPr txBox="1"/>
          <p:nvPr/>
        </p:nvSpPr>
        <p:spPr>
          <a:xfrm>
            <a:off x="6629400" y="4864608"/>
            <a:ext cx="4846320" cy="685800"/>
          </a:xfrm>
          <a:prstGeom prst="rect">
            <a:avLst/>
          </a:prstGeom>
          <a:noFill/>
          <a:ln/>
        </p:spPr>
        <p:txBody>
          <a:bodyPr wrap="none" lIns="0" tIns="0" rIns="0" bIns="0" rtlCol="0" anchor="ctr"/>
          <a:lstStyle/>
          <a:p>
            <a:pPr indent="0" marL="0">
              <a:buNone/>
            </a:pPr>
            <a:r>
              <a:rPr lang="en-US" sz="2800" b="1" dirty="0">
                <a:solidFill>
                  <a:srgbClr val="CFFF00"/>
                </a:solidFill>
                <a:latin typeface="Arial" pitchFamily="34" charset="0"/>
                <a:ea typeface="Arial" pitchFamily="34" charset="-122"/>
                <a:cs typeface="Arial" pitchFamily="34" charset="-120"/>
              </a:rPr>
              <a:t>[METRIC_PLACEHOLDER]</a:t>
            </a:r>
            <a:endParaRPr lang="en-US" sz="2800" dirty="0"/>
          </a:p>
        </p:txBody>
      </p:sp>
      <p:sp>
        <p:nvSpPr>
          <p:cNvPr id="21" name="Text 17"/>
          <p:cNvSpPr txBox="1"/>
          <p:nvPr/>
        </p:nvSpPr>
        <p:spPr>
          <a:xfrm>
            <a:off x="6629400" y="5559552"/>
            <a:ext cx="484632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Projected Utilization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44"/>
        </a:solidFill>
      </p:bgPr>
    </p:bg>
    <p:spTree>
      <p:nvGrpSpPr>
        <p:cNvPr id="1" name=""/>
        <p:cNvGrpSpPr/>
        <p:nvPr/>
      </p:nvGrpSpPr>
      <p:grpSpPr>
        <a:xfrm>
          <a:off x="0" y="0"/>
          <a:ext cx="0" cy="0"/>
          <a:chOff x="0" y="0"/>
          <a:chExt cx="0" cy="0"/>
        </a:xfrm>
      </p:grpSpPr>
      <p:pic>
        <p:nvPicPr>
          <p:cNvPr id="2" name="Image 0" descr="/home/user/whipping-up-fun/assets/generated/divider.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F44">
              <a:alpha val="55000"/>
            </a:srgbClr>
          </a:solidFill>
          <a:ln/>
        </p:spPr>
      </p:sp>
      <p:sp>
        <p:nvSpPr>
          <p:cNvPr id="4" name="Shape 1"/>
          <p:cNvSpPr/>
          <p:nvPr/>
        </p:nvSpPr>
        <p:spPr>
          <a:xfrm>
            <a:off x="0" y="0"/>
            <a:ext cx="109728" cy="6858000"/>
          </a:xfrm>
          <a:prstGeom prst="rect">
            <a:avLst/>
          </a:prstGeom>
          <a:solidFill>
            <a:srgbClr val="CFFF00"/>
          </a:solidFill>
          <a:ln/>
        </p:spPr>
      </p:sp>
      <p:sp>
        <p:nvSpPr>
          <p:cNvPr id="5" name="Shape 2"/>
          <p:cNvSpPr/>
          <p:nvPr/>
        </p:nvSpPr>
        <p:spPr>
          <a:xfrm>
            <a:off x="0" y="1371600"/>
            <a:ext cx="109728" cy="1371600"/>
          </a:xfrm>
          <a:prstGeom prst="rect">
            <a:avLst/>
          </a:prstGeom>
          <a:solidFill>
            <a:srgbClr val="00D4D8"/>
          </a:solidFill>
          <a:ln/>
        </p:spPr>
      </p:sp>
      <p:sp>
        <p:nvSpPr>
          <p:cNvPr id="6" name="Shape 3"/>
          <p:cNvSpPr/>
          <p:nvPr/>
        </p:nvSpPr>
        <p:spPr>
          <a:xfrm>
            <a:off x="0" y="2743200"/>
            <a:ext cx="109728" cy="1371600"/>
          </a:xfrm>
          <a:prstGeom prst="rect">
            <a:avLst/>
          </a:prstGeom>
          <a:solidFill>
            <a:srgbClr val="FF4F7B"/>
          </a:solidFill>
          <a:ln/>
        </p:spPr>
      </p:sp>
      <p:pic>
        <p:nvPicPr>
          <p:cNvPr id="7" name="Image 1" descr="/home/user/whipping-up-fun/assets/generated/wordmark_white.png">    </p:cNvPr>
          <p:cNvPicPr>
            <a:picLocks noChangeAspect="1"/>
          </p:cNvPicPr>
          <p:nvPr/>
        </p:nvPicPr>
        <p:blipFill>
          <a:blip r:embed="rId2"/>
          <a:stretch>
            <a:fillRect/>
          </a:stretch>
        </p:blipFill>
        <p:spPr>
          <a:xfrm>
            <a:off x="10323576" y="484632"/>
            <a:ext cx="1298448" cy="338328"/>
          </a:xfrm>
          <a:prstGeom prst="rect">
            <a:avLst/>
          </a:prstGeom>
        </p:spPr>
      </p:pic>
      <p:sp>
        <p:nvSpPr>
          <p:cNvPr id="8" name="Text 4"/>
          <p:cNvSpPr txBox="1"/>
          <p:nvPr/>
        </p:nvSpPr>
        <p:spPr>
          <a:xfrm>
            <a:off x="694944" y="1005840"/>
            <a:ext cx="9601200" cy="82296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Wrap Up</a:t>
            </a:r>
            <a:endParaRPr lang="en-US" sz="4000" dirty="0"/>
          </a:p>
        </p:txBody>
      </p:sp>
      <p:sp>
        <p:nvSpPr>
          <p:cNvPr id="9" name="Text 5"/>
          <p:cNvSpPr txBox="1"/>
          <p:nvPr/>
        </p:nvSpPr>
        <p:spPr>
          <a:xfrm>
            <a:off x="694944" y="2194560"/>
            <a:ext cx="9601200" cy="2011680"/>
          </a:xfrm>
          <a:prstGeom prst="rect">
            <a:avLst/>
          </a:prstGeom>
          <a:noFill/>
          <a:ln/>
        </p:spPr>
        <p:txBody>
          <a:bodyPr wrap="square" lIns="0" tIns="0" rIns="0" bIns="0" rtlCol="0" anchor="t"/>
          <a:lstStyle/>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Thanks for joining!</a:t>
            </a:r>
            <a:endParaRPr lang="en-US" sz="1600" dirty="0"/>
          </a:p>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Next call: [NEXT_DATE_PLACEHOLDER]</a:t>
            </a:r>
            <a:endParaRPr lang="en-US" sz="1600" dirty="0"/>
          </a:p>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Hosts: [NEXT_HOSTS_PLACEHOLDER]</a:t>
            </a:r>
            <a:endParaRPr lang="en-US" sz="1600" dirty="0"/>
          </a:p>
        </p:txBody>
      </p:sp>
      <p:sp>
        <p:nvSpPr>
          <p:cNvPr id="10" name="Text 6"/>
          <p:cNvSpPr txBox="1"/>
          <p:nvPr/>
        </p:nvSpPr>
        <p:spPr>
          <a:xfrm>
            <a:off x="694944" y="4572000"/>
            <a:ext cx="9601200" cy="457200"/>
          </a:xfrm>
          <a:prstGeom prst="rect">
            <a:avLst/>
          </a:prstGeom>
          <a:noFill/>
          <a:ln/>
        </p:spPr>
        <p:txBody>
          <a:bodyPr wrap="square" lIns="0" tIns="0" rIns="0" bIns="0" rtlCol="0" anchor="ctr"/>
          <a:lstStyle/>
          <a:p>
            <a:pPr indent="0" marL="0">
              <a:buNone/>
            </a:pPr>
            <a:r>
              <a:rPr lang="en-US" sz="2000" b="1" dirty="0">
                <a:solidFill>
                  <a:srgbClr val="CFFF00"/>
                </a:solidFill>
                <a:latin typeface="Arial" pitchFamily="34" charset="0"/>
                <a:ea typeface="Arial" pitchFamily="34" charset="-122"/>
                <a:cs typeface="Arial" pitchFamily="34" charset="-120"/>
              </a:rPr>
              <a:t>SPIN TO SELECT NEXT HOSTS →</a:t>
            </a:r>
            <a:endParaRPr lang="en-US" sz="2000" dirty="0"/>
          </a:p>
        </p:txBody>
      </p:sp>
      <p:sp>
        <p:nvSpPr>
          <p:cNvPr id="11" name="Text 7"/>
          <p:cNvSpPr txBox="1"/>
          <p:nvPr/>
        </p:nvSpPr>
        <p:spPr>
          <a:xfrm>
            <a:off x="694944" y="5074920"/>
            <a:ext cx="10515600" cy="320040"/>
          </a:xfrm>
          <a:prstGeom prst="rect">
            <a:avLst/>
          </a:prstGeom>
          <a:noFill/>
          <a:ln/>
        </p:spPr>
        <p:txBody>
          <a:bodyPr wrap="square" lIns="0" tIns="0" rIns="0" bIns="0" rtlCol="0" anchor="t"/>
          <a:lstStyle/>
          <a:p>
            <a:pPr algn="l" indent="0" marL="0">
              <a:buNone/>
            </a:pPr>
            <a:r>
              <a:rPr lang="en-US" sz="1200" dirty="0">
                <a:solidFill>
                  <a:srgbClr val="A9A29A"/>
                </a:solidFill>
                <a:latin typeface="Calibri" pitchFamily="34" charset="0"/>
                <a:ea typeface="Calibri" pitchFamily="34" charset="-122"/>
                <a:cs typeface="Calibri" pitchFamily="34" charset="-120"/>
              </a:rPr>
              <a:t>[WHEEL_URL_PLACEHOLDER — default: wheelofnames.com]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Slalom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Agents or Overlords</dc:title>
  <dc:subject>PptxGenJS Presentation</dc:subject>
  <dc:creator>Slalom CX</dc:creator>
  <cp:lastModifiedBy>Slalom CX</cp:lastModifiedBy>
  <cp:revision>1</cp:revision>
  <dcterms:created xsi:type="dcterms:W3CDTF">2026-09-11T03:22:52Z</dcterms:created>
  <dcterms:modified xsi:type="dcterms:W3CDTF">2026-09-11T03:22:52Z</dcterms:modified>
</cp:coreProperties>
</file>