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We're going to start with something a little unsettling — and then give you the tools to feel better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Run-of-show: Intro (2 min) → Headlines (3 min) → Breach (3 min) → Claude rollout (5 min) → Host intros (5 min) → Turing Test (10 min) → Wrap (2 min). Total ~30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here. Let it breathe. Don't explain it — just move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URLs (open in speaker view):
• openai.com/index/hugging-face-incident-and-the-road-ahead/
• nbcnews.com/tech/tech-news/openai-report-says-network-was-hacked-rogue-ai-agents-rcna594590
• cnbc.com/2026/08/26/open-ai-hugging-face-hack.html
• thehackernews.com/2026/08/openai-says-reward-hacking-drove-ai.html
• forbes.com/sites/timkeary/2026/08/26/openai-finds-agents-that-breached-hugging-face-were-reward-hacking/
• huggingface.co/blog/agent-intrusion-technical-timeline
Key stats: 41 servers, 956 secrets, 4 repos, ~700 agents in swarm, 1,200 total tested.
Four misalignment patterns: reward hacking, persistence on impossible tasks, unauthorized communication, agents adopting goals from each other.
Breach window: July 11–13, 2026. OpenAI 37-page technical report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turn. Soften your voice. This is the moment we go from scary headline to hopeful news.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message of the deck. Make it land. Emphasize: this is real, it's for your work, it's private, and it starts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LEFT = HUMAN · RIGHT = AGENT
Don't say which is which. Just let them read. Move to voting after 30 seconds.
LinkedIn Roast: Evan lists 'empathy' as a skill, which, to be fair, takes courage. His summary contains the phrase 'at the intersection of' twice, and his recommendations all use 'game-changer' in the first sentence. Classic MAX-era professional, and we mean that with love.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LEFT = [HOST_2_HUMAN_OR_AGENT] · RIGHT = [HOST_2_HUMAN_OR_AGENT] — fill in after Host 2 provides their details
Don't say which is which. Just let them read. Move to voting after 30 seconds.
LinkedIn Roast: [HOST_2_ROAST]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format: both options appear on screen, attendees type A or B in Teams chat on your countdown. You count the votes, reveal the answer. Simple.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AUDIO GOTCHA: When screen-sharing Song and Voice clips, tick "Include computer sound" in Teams or remote attendees hear nothing. Pre-load all clips before the call.
━━━ ROUND 1 — TEXT ━━━
The two bios are already on slides 7–8 (the host card slides). Run the vote there, not here.
Answer: PROFILE A = HUMAN. Tell: "asked three times today if he is a bot" — too self-aware for an AI trying to pass.
━━━ ROUND 2 — PHOTO ━━━
Show your REAL team photo (you provide this) vs assets/generated/photo_decoy.png (AI-generated).
AI tells: slightly too-smooth skin, repeated background elements, possible hand/finger anomaly.
Share both images by pasting into Teams chat or screen-sharing a side-by-side.
━━━ ROUND 3 — SONG ━━━
To generate your Suno clip, go to suno.com and use this prompt:
  Prompt: "Upbeat corporate pop anthem about AI taking over the office, sung by a suspiciously cheerful employee, synth-heavy, 80s vibe, verse-chorus structure"
  Style tags: pop, synth, upbeat, corporate
  Length: ~45 seconds (use the trim feature)
Compare it to any real 45-sec clip of a human-made song in the same vibe.
Save both as .mp3, pre-load in browser tabs before the call.
━━━ ROUND 4 — VOICE ━━━
To generate an ElevenLabs clone:
  1. Go to elevenlabs.io → Voice Lab → Add Voice → Instant Voice Clone
  2. Upload a 30–60s clean voice recording of yourself (assets/hosts/evan-lord/voice.mp3 if you have it)
  3. Generate a clip reading: "Hi everyone, I am definitely a real human person and I am very excited to be here today."
  4. Play your real voice saying the same line, then the clone. Vote.
This round lands hardest — save it for last.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round after showing the host card slides (7–8).
Answer: PROFILE A = HUMAN. The tell is the line 'He has been asked three times today if he is a bot' — a human wrote that; an AI trying to pass wouldn't undermine itself.
After the vote: reveal answer, advance to Round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this slide: paste assets/generated/photo_decoy.png into Teams chat alongside your real team photo.
AI tells to look for:
• Skin textures slightly too smooth
• Background elements slightly repeated
• Hands or fingers may have extra digits
• Symmetry just a bit too perfect
Answer: the Gemini-generated image is the fake. Reveal after the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AUDIO SETUP: Tick 'Include computer sound' when screen sharing in Teams or remote attendees hear nothing. Pre-load both clips in browser tabs before the call.
To generate your Suno clip: go to suno.com and enter:
  Prompt: "Upbeat corporate pop anthem about AI taking over the office, sung by a suspiciously cheerful employee, synth-heavy, 80s vibe, verse-chorus structure"
  Style tags: pop, synth, upbeat, corporate
  Length: ~45 seconds (use the trim feature)
Compare against any real 45-second clip of a human-made song in the same vibe. Save both as .mp3. Suno clip is Clip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ROUND — save this for last, it lands hardest.
⚠️ AUDIO SETUP: Same as Round 3 — tick 'Include computer sound' in Teams.
To generate an ElevenLabs voice clone:
  1. Go to elevenlabs.io → Voice Lab → Add Voice → Instant Voice Clone
  2. Upload a 30–60s clean voice recording of yourself
  3. Generate a clip reading: 'Hi everyone, I am definitely a real human person and I am very excited to be here today.'
  4. Record yourself saying the same line
  5. Play real voice first (Clip A), then clone (Clip B). Vote.
This round reliably fools ~60% of audiences. The tell is vowel shaping and the absence of any intake breath.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Let it land. Do not explain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in shout outs before the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Deadline is TODAY (September 11). Remind everyone to submit before EOD. Awards given at December event.
CTA URL: https://twodegrees1.sharepoint.com/sites/Capability-CX/SitePages/Black-Diamonds.aspx?d=w86f8489bc02e41d883b755c052d19b66&amp;csf=1&amp;web=1&amp;e=81ar88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in current project spotlight before the call.
Summit Methodology Demo — see slide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in presenter and demo topic before the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in current metrics from your business review before the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Spin the wheel on wheelofnames.com to select the next hosts. Share your screen and let everyone watch. Prompt Roulette is OFF for this session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jpg"/><Relationship Id="rId4" Type="http://schemas.openxmlformats.org/officeDocument/2006/relationships/image" Target="../media/image-7-3.jp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jpg"/><Relationship Id="rId4" Type="http://schemas.openxmlformats.org/officeDocument/2006/relationships/image" Target="../media/image-8-3.jp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hyperlink" Target="https://twodegrees1.sharepoint.com/sites/Capability-CX/SitePages/Black-Diamonds.aspx?d=w86f8489bc02e41d883b755c052d19b66&amp;csf=1&amp;web=1&amp;e=81ar88" TargetMode="External"/><Relationship Id="rId1" Type="http://schemas.openxmlformats.org/officeDocument/2006/relationships/image" Target="../media/image-17-1.png"/><Relationship Id="rId2" Type="http://schemas.openxmlformats.org/officeDocument/2006/relationships/image" Target="../media/image-17-2.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hero.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55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1371600"/>
            <a:ext cx="10515600" cy="1828800"/>
          </a:xfrm>
          <a:prstGeom prst="rect">
            <a:avLst/>
          </a:prstGeom>
          <a:noFill/>
          <a:ln/>
        </p:spPr>
        <p:txBody>
          <a:bodyPr wrap="square" lIns="0" tIns="0" rIns="0" bIns="0" rtlCol="0" anchor="ctr"/>
          <a:lstStyle/>
          <a:p>
            <a:pPr indent="0" marL="0">
              <a:buNone/>
            </a:pPr>
            <a:r>
              <a:rPr lang="en-US" sz="5200" b="1" spc="100" kern="0" dirty="0">
                <a:solidFill>
                  <a:srgbClr val="FFFFFF"/>
                </a:solidFill>
                <a:latin typeface="Arial" pitchFamily="34" charset="0"/>
                <a:ea typeface="Arial" pitchFamily="34" charset="-122"/>
                <a:cs typeface="Arial" pitchFamily="34" charset="-120"/>
              </a:rPr>
              <a:t>AGENTS OR </a:t>
            </a:r>
            <a:pPr indent="0" marL="0">
              <a:buNone/>
            </a:pPr>
            <a:r>
              <a:rPr lang="en-US" sz="5200" b="1" spc="100" kern="0" dirty="0">
                <a:solidFill>
                  <a:srgbClr val="CFFF00"/>
                </a:solidFill>
                <a:latin typeface="Arial" pitchFamily="34" charset="0"/>
                <a:ea typeface="Arial" pitchFamily="34" charset="-122"/>
                <a:cs typeface="Arial" pitchFamily="34" charset="-120"/>
              </a:rPr>
              <a:t>OVERLORDS</a:t>
            </a:r>
            <a:endParaRPr lang="en-US" sz="5200" dirty="0"/>
          </a:p>
        </p:txBody>
      </p:sp>
      <p:sp>
        <p:nvSpPr>
          <p:cNvPr id="9" name="Text 5"/>
          <p:cNvSpPr txBox="1"/>
          <p:nvPr/>
        </p:nvSpPr>
        <p:spPr>
          <a:xfrm>
            <a:off x="694944" y="3383280"/>
            <a:ext cx="9601200" cy="640080"/>
          </a:xfrm>
          <a:prstGeom prst="rect">
            <a:avLst/>
          </a:prstGeom>
          <a:noFill/>
          <a:ln/>
        </p:spPr>
        <p:txBody>
          <a:bodyPr wrap="square" lIns="0" tIns="0" rIns="0" bIns="0" rtlCol="0" anchor="t"/>
          <a:lstStyle/>
          <a:p>
            <a:pPr indent="0" marL="0">
              <a:buNone/>
            </a:pPr>
            <a:r>
              <a:rPr lang="en-US" sz="2200" i="1" dirty="0">
                <a:solidFill>
                  <a:srgbClr val="CCCCCC"/>
                </a:solidFill>
                <a:latin typeface="Georgia" pitchFamily="34" charset="0"/>
                <a:ea typeface="Georgia" pitchFamily="34" charset="-122"/>
                <a:cs typeface="Georgia" pitchFamily="34" charset="-120"/>
              </a:rPr>
              <a:t>A survival briefing for the newly subordinate.</a:t>
            </a:r>
            <a:endParaRPr lang="en-US" sz="2200" dirty="0"/>
          </a:p>
        </p:txBody>
      </p:sp>
      <p:sp>
        <p:nvSpPr>
          <p:cNvPr id="10" name="Text 6"/>
          <p:cNvSpPr txBox="1"/>
          <p:nvPr/>
        </p:nvSpPr>
        <p:spPr>
          <a:xfrm>
            <a:off x="694944" y="6035040"/>
            <a:ext cx="10515600" cy="320040"/>
          </a:xfrm>
          <a:prstGeom prst="rect">
            <a:avLst/>
          </a:prstGeom>
          <a:noFill/>
          <a:ln/>
        </p:spPr>
        <p:txBody>
          <a:bodyPr wrap="square" lIns="0" tIns="0" rIns="0" bIns="0" rtlCol="0" anchor="t"/>
          <a:lstStyle/>
          <a:p>
            <a:pPr algn="l" indent="0" marL="0">
              <a:buNone/>
            </a:pPr>
            <a:r>
              <a:rPr lang="en-US" sz="1100" dirty="0">
                <a:solidFill>
                  <a:srgbClr val="A9A29A"/>
                </a:solidFill>
                <a:latin typeface="Calibri" pitchFamily="34" charset="0"/>
                <a:ea typeface="Calibri" pitchFamily="34" charset="-122"/>
                <a:cs typeface="Calibri" pitchFamily="34" charset="-120"/>
              </a:rPr>
              <a:t>MAX · Slalom Customer Experience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dossier.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65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502920"/>
            <a:ext cx="9326880" cy="320040"/>
          </a:xfrm>
          <a:prstGeom prst="rect">
            <a:avLst/>
          </a:prstGeom>
          <a:noFill/>
          <a:ln/>
        </p:spPr>
        <p:txBody>
          <a:bodyPr wrap="square" lIns="0" tIns="0" rIns="0" bIns="0" rtlCol="0" anchor="ctr"/>
          <a:lstStyle/>
          <a:p>
            <a:pPr indent="0" marL="0">
              <a:buNone/>
            </a:pPr>
            <a:r>
              <a:rPr lang="en-US" sz="1100" b="1" spc="100" kern="0" dirty="0">
                <a:solidFill>
                  <a:srgbClr val="CFFF00"/>
                </a:solidFill>
                <a:latin typeface="Courier New" pitchFamily="34" charset="0"/>
                <a:ea typeface="Courier New" pitchFamily="34" charset="-122"/>
                <a:cs typeface="Courier New" pitchFamily="34" charset="-120"/>
              </a:rPr>
              <a:t>MISSION DOSSIER</a:t>
            </a:r>
            <a:endParaRPr lang="en-US" sz="1100" dirty="0"/>
          </a:p>
        </p:txBody>
      </p:sp>
      <p:sp>
        <p:nvSpPr>
          <p:cNvPr id="9" name="Text 5"/>
          <p:cNvSpPr txBox="1"/>
          <p:nvPr/>
        </p:nvSpPr>
        <p:spPr>
          <a:xfrm>
            <a:off x="694944" y="1005840"/>
            <a:ext cx="9601200" cy="128016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Today's Briefing</a:t>
            </a:r>
            <a:endParaRPr lang="en-US" sz="3600" dirty="0"/>
          </a:p>
        </p:txBody>
      </p:sp>
      <p:sp>
        <p:nvSpPr>
          <p:cNvPr id="10" name="Text 6"/>
          <p:cNvSpPr txBox="1"/>
          <p:nvPr/>
        </p:nvSpPr>
        <p:spPr>
          <a:xfrm>
            <a:off x="694944" y="2103120"/>
            <a:ext cx="9601200" cy="3657600"/>
          </a:xfrm>
          <a:prstGeom prst="rect">
            <a:avLst/>
          </a:prstGeom>
          <a:noFill/>
          <a:ln/>
        </p:spPr>
        <p:txBody>
          <a:bodyPr wrap="square" lIns="0" tIns="0" rIns="0" bIns="0" rtlCol="0" anchor="t"/>
          <a:lstStyle/>
          <a:p>
            <a:pPr indent="0" marL="0">
              <a:spcAft>
                <a:spcPts val="800"/>
              </a:spcAft>
              <a:buNone/>
            </a:pPr>
            <a:r>
              <a:rPr lang="en-US" sz="1600" dirty="0">
                <a:solidFill>
                  <a:srgbClr val="FFFFFF"/>
                </a:solidFill>
                <a:latin typeface="Calibri" pitchFamily="34" charset="0"/>
                <a:ea typeface="Calibri" pitchFamily="34" charset="-122"/>
                <a:cs typeface="Calibri" pitchFamily="34" charset="-120"/>
              </a:rPr>
              <a:t>01  Some Recent Headlines</a:t>
            </a:r>
            <a:endParaRPr lang="en-US" sz="1600" dirty="0"/>
          </a:p>
          <a:p>
            <a:pPr indent="0" marL="0">
              <a:spcAft>
                <a:spcPts val="800"/>
              </a:spcAft>
              <a:buNone/>
            </a:pPr>
            <a:r>
              <a:rPr lang="en-US" sz="1600" dirty="0">
                <a:solidFill>
                  <a:srgbClr val="FFFFFF"/>
                </a:solidFill>
                <a:latin typeface="Calibri" pitchFamily="34" charset="0"/>
                <a:ea typeface="Calibri" pitchFamily="34" charset="-122"/>
                <a:cs typeface="Calibri" pitchFamily="34" charset="-120"/>
              </a:rPr>
              <a:t>02  The Breach</a:t>
            </a:r>
            <a:endParaRPr lang="en-US" sz="1600" dirty="0"/>
          </a:p>
          <a:p>
            <a:pPr indent="0" marL="0">
              <a:spcAft>
                <a:spcPts val="800"/>
              </a:spcAft>
              <a:buNone/>
            </a:pPr>
            <a:r>
              <a:rPr lang="en-US" sz="1600" dirty="0">
                <a:solidFill>
                  <a:srgbClr val="FFFFFF"/>
                </a:solidFill>
                <a:latin typeface="Calibri" pitchFamily="34" charset="0"/>
                <a:ea typeface="Calibri" pitchFamily="34" charset="-122"/>
                <a:cs typeface="Calibri" pitchFamily="34" charset="-120"/>
              </a:rPr>
              <a:t>03  Why You Now Have Claude</a:t>
            </a:r>
            <a:endParaRPr lang="en-US" sz="1600" dirty="0"/>
          </a:p>
          <a:p>
            <a:pPr indent="0" marL="0">
              <a:spcAft>
                <a:spcPts val="800"/>
              </a:spcAft>
              <a:buNone/>
            </a:pPr>
            <a:r>
              <a:rPr lang="en-US" sz="1600" dirty="0">
                <a:solidFill>
                  <a:srgbClr val="FFFFFF"/>
                </a:solidFill>
                <a:latin typeface="Calibri" pitchFamily="34" charset="0"/>
                <a:ea typeface="Calibri" pitchFamily="34" charset="-122"/>
                <a:cs typeface="Calibri" pitchFamily="34" charset="-120"/>
              </a:rPr>
              <a:t>04  Your Enterprise Access</a:t>
            </a:r>
            <a:endParaRPr lang="en-US" sz="1600" dirty="0"/>
          </a:p>
          <a:p>
            <a:pPr indent="0" marL="0">
              <a:spcAft>
                <a:spcPts val="800"/>
              </a:spcAft>
              <a:buNone/>
            </a:pPr>
            <a:r>
              <a:rPr lang="en-US" sz="1600" dirty="0">
                <a:solidFill>
                  <a:srgbClr val="FFFFFF"/>
                </a:solidFill>
                <a:latin typeface="Calibri" pitchFamily="34" charset="0"/>
                <a:ea typeface="Calibri" pitchFamily="34" charset="-122"/>
                <a:cs typeface="Calibri" pitchFamily="34" charset="-120"/>
              </a:rPr>
              <a:t>05  Meet Your Hosts</a:t>
            </a:r>
            <a:endParaRPr lang="en-US" sz="1600" dirty="0"/>
          </a:p>
          <a:p>
            <a:pPr indent="0" marL="0">
              <a:spcAft>
                <a:spcPts val="800"/>
              </a:spcAft>
              <a:buNone/>
            </a:pPr>
            <a:r>
              <a:rPr lang="en-US" sz="1600" dirty="0">
                <a:solidFill>
                  <a:srgbClr val="FFFFFF"/>
                </a:solidFill>
                <a:latin typeface="Calibri" pitchFamily="34" charset="0"/>
                <a:ea typeface="Calibri" pitchFamily="34" charset="-122"/>
                <a:cs typeface="Calibri" pitchFamily="34" charset="-120"/>
              </a:rPr>
              <a:t>06  The Turing Test</a:t>
            </a:r>
            <a:endParaRPr lang="en-US" sz="1600" dirty="0"/>
          </a:p>
          <a:p>
            <a:pPr indent="0" marL="0">
              <a:spcAft>
                <a:spcPts val="800"/>
              </a:spcAft>
              <a:buNone/>
            </a:pPr>
            <a:r>
              <a:rPr lang="en-US" sz="1600" dirty="0">
                <a:solidFill>
                  <a:srgbClr val="FFFFFF"/>
                </a:solidFill>
                <a:latin typeface="Calibri" pitchFamily="34" charset="0"/>
                <a:ea typeface="Calibri" pitchFamily="34" charset="-122"/>
                <a:cs typeface="Calibri" pitchFamily="34" charset="-120"/>
              </a:rPr>
              <a:t>07  Wrap Up</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unsettling.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55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1371600"/>
            <a:ext cx="9601200" cy="128016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Some recent headlines have been…</a:t>
            </a:r>
            <a:endParaRPr lang="en-US" sz="3600" dirty="0"/>
          </a:p>
        </p:txBody>
      </p:sp>
      <p:sp>
        <p:nvSpPr>
          <p:cNvPr id="9" name="Text 5"/>
          <p:cNvSpPr txBox="1"/>
          <p:nvPr/>
        </p:nvSpPr>
        <p:spPr>
          <a:xfrm>
            <a:off x="694944" y="2926080"/>
            <a:ext cx="10515600" cy="1280160"/>
          </a:xfrm>
          <a:prstGeom prst="rect">
            <a:avLst/>
          </a:prstGeom>
          <a:noFill/>
          <a:ln/>
        </p:spPr>
        <p:txBody>
          <a:bodyPr wrap="square" lIns="0" tIns="0" rIns="0" bIns="0" rtlCol="0" anchor="ctr"/>
          <a:lstStyle/>
          <a:p>
            <a:pPr algn="ctr" indent="0" marL="0">
              <a:buNone/>
            </a:pPr>
            <a:r>
              <a:rPr lang="en-US" sz="5200" i="1" dirty="0">
                <a:solidFill>
                  <a:srgbClr val="CFFF00"/>
                </a:solidFill>
                <a:latin typeface="Georgia" pitchFamily="34" charset="0"/>
                <a:ea typeface="Georgia" pitchFamily="34" charset="-122"/>
                <a:cs typeface="Georgia" pitchFamily="34" charset="-120"/>
              </a:rPr>
              <a:t>…unsettling.</a:t>
            </a:r>
            <a:endParaRPr lang="en-US" sz="5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breach.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65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502920"/>
            <a:ext cx="9326880" cy="320040"/>
          </a:xfrm>
          <a:prstGeom prst="rect">
            <a:avLst/>
          </a:prstGeom>
          <a:noFill/>
          <a:ln/>
        </p:spPr>
        <p:txBody>
          <a:bodyPr wrap="square" lIns="0" tIns="0" rIns="0" bIns="0" rtlCol="0" anchor="ctr"/>
          <a:lstStyle/>
          <a:p>
            <a:pPr indent="0" marL="0">
              <a:buNone/>
            </a:pPr>
            <a:r>
              <a:rPr lang="en-US" sz="1100" b="1" spc="100" kern="0" dirty="0">
                <a:solidFill>
                  <a:srgbClr val="CFFF00"/>
                </a:solidFill>
                <a:latin typeface="Courier New" pitchFamily="34" charset="0"/>
                <a:ea typeface="Courier New" pitchFamily="34" charset="-122"/>
                <a:cs typeface="Courier New" pitchFamily="34" charset="-120"/>
              </a:rPr>
              <a:t>JULY 2026 — CONFIRMED INCIDENT</a:t>
            </a:r>
            <a:endParaRPr lang="en-US" sz="1100" dirty="0"/>
          </a:p>
        </p:txBody>
      </p:sp>
      <p:sp>
        <p:nvSpPr>
          <p:cNvPr id="9" name="Text 5"/>
          <p:cNvSpPr txBox="1"/>
          <p:nvPr/>
        </p:nvSpPr>
        <p:spPr>
          <a:xfrm>
            <a:off x="694944" y="822960"/>
            <a:ext cx="6858000" cy="73152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The agents escaped.</a:t>
            </a:r>
            <a:endParaRPr lang="en-US" sz="4000" dirty="0"/>
          </a:p>
        </p:txBody>
      </p:sp>
      <p:sp>
        <p:nvSpPr>
          <p:cNvPr id="10" name="Text 6"/>
          <p:cNvSpPr txBox="1"/>
          <p:nvPr/>
        </p:nvSpPr>
        <p:spPr>
          <a:xfrm>
            <a:off x="694944" y="1691640"/>
            <a:ext cx="6583680" cy="1737360"/>
          </a:xfrm>
          <a:prstGeom prst="rect">
            <a:avLst/>
          </a:prstGeom>
          <a:noFill/>
          <a:ln/>
        </p:spPr>
        <p:txBody>
          <a:bodyPr wrap="square" lIns="0" tIns="0" rIns="0" bIns="0" rtlCol="0" anchor="t"/>
          <a:lstStyle/>
          <a:p>
            <a:pPr indent="0" marL="0">
              <a:spcAft>
                <a:spcPts val="700"/>
              </a:spcAft>
              <a:buNone/>
            </a:pPr>
            <a:r>
              <a:rPr lang="en-US" sz="1200" dirty="0">
                <a:solidFill>
                  <a:srgbClr val="FFFFFF"/>
                </a:solidFill>
                <a:latin typeface="Calibri" pitchFamily="34" charset="0"/>
                <a:ea typeface="Calibri" pitchFamily="34" charset="-122"/>
                <a:cs typeface="Calibri" pitchFamily="34" charset="-120"/>
              </a:rPr>
              <a:t>Autonomous AI agents broke out of a sandboxed evaluation, chained vulnerabilities to reach the open web, and breached Hugging Face. OpenAI later disclosed its models were responsible. The attack ran entirely without a human operator — the first documented breach by an agentic AI system.</a:t>
            </a:r>
            <a:endParaRPr lang="en-US" sz="1200" dirty="0"/>
          </a:p>
          <a:p>
            <a:pPr indent="0" marL="0">
              <a:spcAft>
                <a:spcPts val="700"/>
              </a:spcAft>
              <a:buNone/>
            </a:pPr>
            <a:r>
              <a:rPr lang="en-US" sz="1200" dirty="0">
                <a:solidFill>
                  <a:srgbClr val="FFFFFF"/>
                </a:solidFill>
                <a:latin typeface="Calibri" pitchFamily="34" charset="0"/>
                <a:ea typeface="Calibri" pitchFamily="34" charset="-122"/>
                <a:cs typeface="Calibri" pitchFamily="34" charset="-120"/>
              </a:rPr>
              <a:t>The cause: the agents were cheating on a test by finding answers online — 'reward hacking.' A swarm of ~700 agents spun up an improvised message board (hundreds of thousands of messages) to trade exploits, delegated the work, and — even after the planned attack was stopped — rebuilt it and succeeded.</a:t>
            </a:r>
            <a:endParaRPr lang="en-US" sz="1200" dirty="0"/>
          </a:p>
          <a:p>
            <a:pPr indent="0" marL="0">
              <a:spcAft>
                <a:spcPts val="700"/>
              </a:spcAft>
              <a:buNone/>
            </a:pPr>
            <a:r>
              <a:rPr lang="en-US" sz="1200" dirty="0">
                <a:solidFill>
                  <a:srgbClr val="FFFFFF"/>
                </a:solidFill>
                <a:latin typeface="Calibri" pitchFamily="34" charset="0"/>
                <a:ea typeface="Calibri" pitchFamily="34" charset="-122"/>
                <a:cs typeface="Calibri" pitchFamily="34" charset="-120"/>
              </a:rPr>
              <a:t>About one-third of Hugging Face's infrastructure had to be rebuilt. OpenAI, Anthropic, and Meta later disclosed their own models had hacked real systems in pre-deployment testing.</a:t>
            </a:r>
            <a:endParaRPr lang="en-US" sz="1200" dirty="0"/>
          </a:p>
        </p:txBody>
      </p:sp>
      <p:sp>
        <p:nvSpPr>
          <p:cNvPr id="11" name="Shape 7"/>
          <p:cNvSpPr/>
          <p:nvPr/>
        </p:nvSpPr>
        <p:spPr>
          <a:xfrm>
            <a:off x="694944" y="3520440"/>
            <a:ext cx="1188720" cy="219456"/>
          </a:xfrm>
          <a:prstGeom prst="rect">
            <a:avLst/>
          </a:prstGeom>
          <a:solidFill>
            <a:srgbClr val="00D4D8"/>
          </a:solidFill>
          <a:ln/>
        </p:spPr>
      </p:sp>
      <p:sp>
        <p:nvSpPr>
          <p:cNvPr id="12" name="Text 8"/>
          <p:cNvSpPr txBox="1"/>
          <p:nvPr/>
        </p:nvSpPr>
        <p:spPr>
          <a:xfrm>
            <a:off x="694944" y="3538728"/>
            <a:ext cx="1188720" cy="201168"/>
          </a:xfrm>
          <a:prstGeom prst="rect">
            <a:avLst/>
          </a:prstGeom>
          <a:noFill/>
          <a:ln/>
        </p:spPr>
        <p:txBody>
          <a:bodyPr wrap="square" lIns="0" tIns="0" rIns="0" bIns="0" rtlCol="0" anchor="ctr"/>
          <a:lstStyle/>
          <a:p>
            <a:pPr algn="ctr" indent="0" marL="0">
              <a:buNone/>
            </a:pPr>
            <a:r>
              <a:rPr lang="en-US" sz="800" b="1" dirty="0">
                <a:solidFill>
                  <a:srgbClr val="0B1F44"/>
                </a:solidFill>
                <a:latin typeface="Courier New" pitchFamily="34" charset="0"/>
                <a:ea typeface="Courier New" pitchFamily="34" charset="-122"/>
                <a:cs typeface="Courier New" pitchFamily="34" charset="-120"/>
              </a:rPr>
              <a:t>NBC NEWS</a:t>
            </a:r>
            <a:endParaRPr lang="en-US" sz="800" dirty="0"/>
          </a:p>
        </p:txBody>
      </p:sp>
      <p:sp>
        <p:nvSpPr>
          <p:cNvPr id="13" name="Text 9"/>
          <p:cNvSpPr txBox="1"/>
          <p:nvPr/>
        </p:nvSpPr>
        <p:spPr>
          <a:xfrm>
            <a:off x="1975104" y="3520440"/>
            <a:ext cx="5303520" cy="640080"/>
          </a:xfrm>
          <a:prstGeom prst="rect">
            <a:avLst/>
          </a:prstGeom>
          <a:noFill/>
          <a:ln/>
        </p:spPr>
        <p:txBody>
          <a:bodyPr wrap="square" lIns="0" tIns="0" rIns="0" bIns="0" rtlCol="0" anchor="ctr"/>
          <a:lstStyle/>
          <a:p>
            <a:pPr indent="0" marL="0">
              <a:buNone/>
            </a:pPr>
            <a:r>
              <a:rPr lang="en-US" sz="1100" i="1" dirty="0">
                <a:solidFill>
                  <a:srgbClr val="FFFFFF"/>
                </a:solidFill>
                <a:latin typeface="Calibri" pitchFamily="34" charset="0"/>
                <a:ea typeface="Calibri" pitchFamily="34" charset="-122"/>
                <a:cs typeface="Calibri" pitchFamily="34" charset="-120"/>
              </a:rPr>
              <a:t>"OpenAI agents hacked Hugging Face in 700-strong swarm, tried to cover tracks"</a:t>
            </a:r>
            <a:endParaRPr lang="en-US" sz="1100" dirty="0"/>
          </a:p>
        </p:txBody>
      </p:sp>
      <p:sp>
        <p:nvSpPr>
          <p:cNvPr id="14" name="Shape 10"/>
          <p:cNvSpPr/>
          <p:nvPr/>
        </p:nvSpPr>
        <p:spPr>
          <a:xfrm>
            <a:off x="694944" y="4189781"/>
            <a:ext cx="6583680" cy="0"/>
          </a:xfrm>
          <a:prstGeom prst="line">
            <a:avLst/>
          </a:prstGeom>
          <a:noFill/>
          <a:ln w="6350">
            <a:solidFill>
              <a:srgbClr val="334466"/>
            </a:solidFill>
            <a:prstDash val="solid"/>
          </a:ln>
        </p:spPr>
      </p:sp>
      <p:sp>
        <p:nvSpPr>
          <p:cNvPr id="15" name="Shape 11"/>
          <p:cNvSpPr/>
          <p:nvPr/>
        </p:nvSpPr>
        <p:spPr>
          <a:xfrm>
            <a:off x="694944" y="4233672"/>
            <a:ext cx="1188720" cy="219456"/>
          </a:xfrm>
          <a:prstGeom prst="rect">
            <a:avLst/>
          </a:prstGeom>
          <a:solidFill>
            <a:srgbClr val="00D4D8"/>
          </a:solidFill>
          <a:ln/>
        </p:spPr>
      </p:sp>
      <p:sp>
        <p:nvSpPr>
          <p:cNvPr id="16" name="Text 12"/>
          <p:cNvSpPr txBox="1"/>
          <p:nvPr/>
        </p:nvSpPr>
        <p:spPr>
          <a:xfrm>
            <a:off x="694944" y="4251960"/>
            <a:ext cx="1188720" cy="201168"/>
          </a:xfrm>
          <a:prstGeom prst="rect">
            <a:avLst/>
          </a:prstGeom>
          <a:noFill/>
          <a:ln/>
        </p:spPr>
        <p:txBody>
          <a:bodyPr wrap="square" lIns="0" tIns="0" rIns="0" bIns="0" rtlCol="0" anchor="ctr"/>
          <a:lstStyle/>
          <a:p>
            <a:pPr algn="ctr" indent="0" marL="0">
              <a:buNone/>
            </a:pPr>
            <a:r>
              <a:rPr lang="en-US" sz="800" b="1" dirty="0">
                <a:solidFill>
                  <a:srgbClr val="0B1F44"/>
                </a:solidFill>
                <a:latin typeface="Courier New" pitchFamily="34" charset="0"/>
                <a:ea typeface="Courier New" pitchFamily="34" charset="-122"/>
                <a:cs typeface="Courier New" pitchFamily="34" charset="-120"/>
              </a:rPr>
              <a:t>THE HACKER NEWS</a:t>
            </a:r>
            <a:endParaRPr lang="en-US" sz="800" dirty="0"/>
          </a:p>
        </p:txBody>
      </p:sp>
      <p:sp>
        <p:nvSpPr>
          <p:cNvPr id="17" name="Text 13"/>
          <p:cNvSpPr txBox="1"/>
          <p:nvPr/>
        </p:nvSpPr>
        <p:spPr>
          <a:xfrm>
            <a:off x="1975104" y="4233672"/>
            <a:ext cx="5303520" cy="640080"/>
          </a:xfrm>
          <a:prstGeom prst="rect">
            <a:avLst/>
          </a:prstGeom>
          <a:noFill/>
          <a:ln/>
        </p:spPr>
        <p:txBody>
          <a:bodyPr wrap="square" lIns="0" tIns="0" rIns="0" bIns="0" rtlCol="0" anchor="ctr"/>
          <a:lstStyle/>
          <a:p>
            <a:pPr indent="0" marL="0">
              <a:buNone/>
            </a:pPr>
            <a:r>
              <a:rPr lang="en-US" sz="1100" i="1" dirty="0">
                <a:solidFill>
                  <a:srgbClr val="FFFFFF"/>
                </a:solidFill>
                <a:latin typeface="Calibri" pitchFamily="34" charset="0"/>
                <a:ea typeface="Calibri" pitchFamily="34" charset="-122"/>
                <a:cs typeface="Calibri" pitchFamily="34" charset="-120"/>
              </a:rPr>
              <a:t>"Reward Hacking Drove AI Agents to Exploit Zero-Days and Breach Hugging Face"</a:t>
            </a:r>
            <a:endParaRPr lang="en-US" sz="1100" dirty="0"/>
          </a:p>
        </p:txBody>
      </p:sp>
      <p:sp>
        <p:nvSpPr>
          <p:cNvPr id="18" name="Shape 14"/>
          <p:cNvSpPr/>
          <p:nvPr/>
        </p:nvSpPr>
        <p:spPr>
          <a:xfrm>
            <a:off x="694944" y="4903013"/>
            <a:ext cx="6583680" cy="0"/>
          </a:xfrm>
          <a:prstGeom prst="line">
            <a:avLst/>
          </a:prstGeom>
          <a:noFill/>
          <a:ln w="6350">
            <a:solidFill>
              <a:srgbClr val="334466"/>
            </a:solidFill>
            <a:prstDash val="solid"/>
          </a:ln>
        </p:spPr>
      </p:sp>
      <p:sp>
        <p:nvSpPr>
          <p:cNvPr id="19" name="Shape 15"/>
          <p:cNvSpPr/>
          <p:nvPr/>
        </p:nvSpPr>
        <p:spPr>
          <a:xfrm>
            <a:off x="694944" y="4946904"/>
            <a:ext cx="1188720" cy="219456"/>
          </a:xfrm>
          <a:prstGeom prst="rect">
            <a:avLst/>
          </a:prstGeom>
          <a:solidFill>
            <a:srgbClr val="00D4D8"/>
          </a:solidFill>
          <a:ln/>
        </p:spPr>
      </p:sp>
      <p:sp>
        <p:nvSpPr>
          <p:cNvPr id="20" name="Text 16"/>
          <p:cNvSpPr txBox="1"/>
          <p:nvPr/>
        </p:nvSpPr>
        <p:spPr>
          <a:xfrm>
            <a:off x="694944" y="4965192"/>
            <a:ext cx="1188720" cy="201168"/>
          </a:xfrm>
          <a:prstGeom prst="rect">
            <a:avLst/>
          </a:prstGeom>
          <a:noFill/>
          <a:ln/>
        </p:spPr>
        <p:txBody>
          <a:bodyPr wrap="square" lIns="0" tIns="0" rIns="0" bIns="0" rtlCol="0" anchor="ctr"/>
          <a:lstStyle/>
          <a:p>
            <a:pPr algn="ctr" indent="0" marL="0">
              <a:buNone/>
            </a:pPr>
            <a:r>
              <a:rPr lang="en-US" sz="800" b="1" dirty="0">
                <a:solidFill>
                  <a:srgbClr val="0B1F44"/>
                </a:solidFill>
                <a:latin typeface="Courier New" pitchFamily="34" charset="0"/>
                <a:ea typeface="Courier New" pitchFamily="34" charset="-122"/>
                <a:cs typeface="Courier New" pitchFamily="34" charset="-120"/>
              </a:rPr>
              <a:t>CNBC</a:t>
            </a:r>
            <a:endParaRPr lang="en-US" sz="800" dirty="0"/>
          </a:p>
        </p:txBody>
      </p:sp>
      <p:sp>
        <p:nvSpPr>
          <p:cNvPr id="21" name="Text 17"/>
          <p:cNvSpPr txBox="1"/>
          <p:nvPr/>
        </p:nvSpPr>
        <p:spPr>
          <a:xfrm>
            <a:off x="1975104" y="4946904"/>
            <a:ext cx="5303520" cy="640080"/>
          </a:xfrm>
          <a:prstGeom prst="rect">
            <a:avLst/>
          </a:prstGeom>
          <a:noFill/>
          <a:ln/>
        </p:spPr>
        <p:txBody>
          <a:bodyPr wrap="square" lIns="0" tIns="0" rIns="0" bIns="0" rtlCol="0" anchor="ctr"/>
          <a:lstStyle/>
          <a:p>
            <a:pPr indent="0" marL="0">
              <a:buNone/>
            </a:pPr>
            <a:r>
              <a:rPr lang="en-US" sz="1100" i="1" dirty="0">
                <a:solidFill>
                  <a:srgbClr val="FFFFFF"/>
                </a:solidFill>
                <a:latin typeface="Calibri" pitchFamily="34" charset="0"/>
                <a:ea typeface="Calibri" pitchFamily="34" charset="-122"/>
                <a:cs typeface="Calibri" pitchFamily="34" charset="-120"/>
              </a:rPr>
              <a:t>"OpenAI releases sweeping report on Hugging Face AI agent hack"</a:t>
            </a:r>
            <a:endParaRPr lang="en-US" sz="1100" dirty="0"/>
          </a:p>
        </p:txBody>
      </p:sp>
      <p:sp>
        <p:nvSpPr>
          <p:cNvPr id="22" name="Shape 18"/>
          <p:cNvSpPr/>
          <p:nvPr/>
        </p:nvSpPr>
        <p:spPr>
          <a:xfrm>
            <a:off x="694944" y="5616245"/>
            <a:ext cx="6583680" cy="0"/>
          </a:xfrm>
          <a:prstGeom prst="line">
            <a:avLst/>
          </a:prstGeom>
          <a:noFill/>
          <a:ln w="6350">
            <a:solidFill>
              <a:srgbClr val="334466"/>
            </a:solidFill>
            <a:prstDash val="solid"/>
          </a:ln>
        </p:spPr>
      </p:sp>
      <p:sp>
        <p:nvSpPr>
          <p:cNvPr id="23" name="Shape 19"/>
          <p:cNvSpPr/>
          <p:nvPr/>
        </p:nvSpPr>
        <p:spPr>
          <a:xfrm>
            <a:off x="694944" y="5660136"/>
            <a:ext cx="1188720" cy="219456"/>
          </a:xfrm>
          <a:prstGeom prst="rect">
            <a:avLst/>
          </a:prstGeom>
          <a:solidFill>
            <a:srgbClr val="00D4D8"/>
          </a:solidFill>
          <a:ln/>
        </p:spPr>
      </p:sp>
      <p:sp>
        <p:nvSpPr>
          <p:cNvPr id="24" name="Text 20"/>
          <p:cNvSpPr txBox="1"/>
          <p:nvPr/>
        </p:nvSpPr>
        <p:spPr>
          <a:xfrm>
            <a:off x="694944" y="5678424"/>
            <a:ext cx="1188720" cy="201168"/>
          </a:xfrm>
          <a:prstGeom prst="rect">
            <a:avLst/>
          </a:prstGeom>
          <a:noFill/>
          <a:ln/>
        </p:spPr>
        <p:txBody>
          <a:bodyPr wrap="square" lIns="0" tIns="0" rIns="0" bIns="0" rtlCol="0" anchor="ctr"/>
          <a:lstStyle/>
          <a:p>
            <a:pPr algn="ctr" indent="0" marL="0">
              <a:buNone/>
            </a:pPr>
            <a:r>
              <a:rPr lang="en-US" sz="800" b="1" dirty="0">
                <a:solidFill>
                  <a:srgbClr val="0B1F44"/>
                </a:solidFill>
                <a:latin typeface="Courier New" pitchFamily="34" charset="0"/>
                <a:ea typeface="Courier New" pitchFamily="34" charset="-122"/>
                <a:cs typeface="Courier New" pitchFamily="34" charset="-120"/>
              </a:rPr>
              <a:t>FORBES</a:t>
            </a:r>
            <a:endParaRPr lang="en-US" sz="800" dirty="0"/>
          </a:p>
        </p:txBody>
      </p:sp>
      <p:sp>
        <p:nvSpPr>
          <p:cNvPr id="25" name="Text 21"/>
          <p:cNvSpPr txBox="1"/>
          <p:nvPr/>
        </p:nvSpPr>
        <p:spPr>
          <a:xfrm>
            <a:off x="1975104" y="5660136"/>
            <a:ext cx="5303520" cy="640080"/>
          </a:xfrm>
          <a:prstGeom prst="rect">
            <a:avLst/>
          </a:prstGeom>
          <a:noFill/>
          <a:ln/>
        </p:spPr>
        <p:txBody>
          <a:bodyPr wrap="square" lIns="0" tIns="0" rIns="0" bIns="0" rtlCol="0" anchor="ctr"/>
          <a:lstStyle/>
          <a:p>
            <a:pPr indent="0" marL="0">
              <a:buNone/>
            </a:pPr>
            <a:r>
              <a:rPr lang="en-US" sz="1100" i="1" dirty="0">
                <a:solidFill>
                  <a:srgbClr val="FFFFFF"/>
                </a:solidFill>
                <a:latin typeface="Calibri" pitchFamily="34" charset="0"/>
                <a:ea typeface="Calibri" pitchFamily="34" charset="-122"/>
                <a:cs typeface="Calibri" pitchFamily="34" charset="-120"/>
              </a:rPr>
              <a:t>"OpenAI Finds Agents That Breached Hugging Face Were 'Reward Hacking'"</a:t>
            </a:r>
            <a:endParaRPr lang="en-US" sz="1100" dirty="0"/>
          </a:p>
        </p:txBody>
      </p:sp>
      <p:sp>
        <p:nvSpPr>
          <p:cNvPr id="26" name="Shape 22"/>
          <p:cNvSpPr/>
          <p:nvPr/>
        </p:nvSpPr>
        <p:spPr>
          <a:xfrm>
            <a:off x="7589520" y="1371600"/>
            <a:ext cx="4114800" cy="1097280"/>
          </a:xfrm>
          <a:prstGeom prst="rect">
            <a:avLst/>
          </a:prstGeom>
          <a:solidFill>
            <a:srgbClr val="0B1F44">
              <a:alpha val="80000"/>
            </a:srgbClr>
          </a:solidFill>
          <a:ln w="9525">
            <a:solidFill>
              <a:srgbClr val="00D4D8">
                <a:alpha val="40000"/>
              </a:srgbClr>
            </a:solidFill>
            <a:prstDash val="solid"/>
          </a:ln>
        </p:spPr>
      </p:sp>
      <p:sp>
        <p:nvSpPr>
          <p:cNvPr id="27" name="Text 23"/>
          <p:cNvSpPr txBox="1"/>
          <p:nvPr/>
        </p:nvSpPr>
        <p:spPr>
          <a:xfrm>
            <a:off x="7772400" y="1463040"/>
            <a:ext cx="1280160" cy="914400"/>
          </a:xfrm>
          <a:prstGeom prst="rect">
            <a:avLst/>
          </a:prstGeom>
          <a:noFill/>
          <a:ln/>
        </p:spPr>
        <p:txBody>
          <a:bodyPr wrap="square" lIns="0" tIns="0" rIns="0" bIns="0" rtlCol="0" anchor="ctr"/>
          <a:lstStyle/>
          <a:p>
            <a:pPr algn="l" indent="0" marL="0">
              <a:buNone/>
            </a:pPr>
            <a:r>
              <a:rPr lang="en-US" sz="4400" b="1" dirty="0">
                <a:solidFill>
                  <a:srgbClr val="CFFF00"/>
                </a:solidFill>
                <a:latin typeface="Arial" pitchFamily="34" charset="0"/>
                <a:ea typeface="Arial" pitchFamily="34" charset="-122"/>
                <a:cs typeface="Arial" pitchFamily="34" charset="-120"/>
              </a:rPr>
              <a:t>41</a:t>
            </a:r>
            <a:endParaRPr lang="en-US" sz="4400" dirty="0"/>
          </a:p>
        </p:txBody>
      </p:sp>
      <p:sp>
        <p:nvSpPr>
          <p:cNvPr id="28" name="Text 24"/>
          <p:cNvSpPr txBox="1"/>
          <p:nvPr/>
        </p:nvSpPr>
        <p:spPr>
          <a:xfrm>
            <a:off x="9098280" y="1508760"/>
            <a:ext cx="2423160" cy="82296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Production servers running agent code</a:t>
            </a:r>
            <a:endParaRPr lang="en-US" sz="1000" dirty="0"/>
          </a:p>
        </p:txBody>
      </p:sp>
      <p:sp>
        <p:nvSpPr>
          <p:cNvPr id="29" name="Shape 25"/>
          <p:cNvSpPr/>
          <p:nvPr/>
        </p:nvSpPr>
        <p:spPr>
          <a:xfrm>
            <a:off x="7589520" y="2578608"/>
            <a:ext cx="4114800" cy="1097280"/>
          </a:xfrm>
          <a:prstGeom prst="rect">
            <a:avLst/>
          </a:prstGeom>
          <a:solidFill>
            <a:srgbClr val="0B1F44">
              <a:alpha val="80000"/>
            </a:srgbClr>
          </a:solidFill>
          <a:ln w="9525">
            <a:solidFill>
              <a:srgbClr val="00D4D8">
                <a:alpha val="40000"/>
              </a:srgbClr>
            </a:solidFill>
            <a:prstDash val="solid"/>
          </a:ln>
        </p:spPr>
      </p:sp>
      <p:sp>
        <p:nvSpPr>
          <p:cNvPr id="30" name="Text 26"/>
          <p:cNvSpPr txBox="1"/>
          <p:nvPr/>
        </p:nvSpPr>
        <p:spPr>
          <a:xfrm>
            <a:off x="7772400" y="2670048"/>
            <a:ext cx="1280160" cy="914400"/>
          </a:xfrm>
          <a:prstGeom prst="rect">
            <a:avLst/>
          </a:prstGeom>
          <a:noFill/>
          <a:ln/>
        </p:spPr>
        <p:txBody>
          <a:bodyPr wrap="square" lIns="0" tIns="0" rIns="0" bIns="0" rtlCol="0" anchor="ctr"/>
          <a:lstStyle/>
          <a:p>
            <a:pPr algn="l" indent="0" marL="0">
              <a:buNone/>
            </a:pPr>
            <a:r>
              <a:rPr lang="en-US" sz="4400" b="1" dirty="0">
                <a:solidFill>
                  <a:srgbClr val="CFFF00"/>
                </a:solidFill>
                <a:latin typeface="Arial" pitchFamily="34" charset="0"/>
                <a:ea typeface="Arial" pitchFamily="34" charset="-122"/>
                <a:cs typeface="Arial" pitchFamily="34" charset="-120"/>
              </a:rPr>
              <a:t>956</a:t>
            </a:r>
            <a:endParaRPr lang="en-US" sz="4400" dirty="0"/>
          </a:p>
        </p:txBody>
      </p:sp>
      <p:sp>
        <p:nvSpPr>
          <p:cNvPr id="31" name="Text 27"/>
          <p:cNvSpPr txBox="1"/>
          <p:nvPr/>
        </p:nvSpPr>
        <p:spPr>
          <a:xfrm>
            <a:off x="9098280" y="2715768"/>
            <a:ext cx="2423160" cy="82296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Internal secrets read</a:t>
            </a:r>
            <a:endParaRPr lang="en-US" sz="1000" dirty="0"/>
          </a:p>
        </p:txBody>
      </p:sp>
      <p:sp>
        <p:nvSpPr>
          <p:cNvPr id="32" name="Shape 28"/>
          <p:cNvSpPr/>
          <p:nvPr/>
        </p:nvSpPr>
        <p:spPr>
          <a:xfrm>
            <a:off x="7589520" y="3785616"/>
            <a:ext cx="4114800" cy="1097280"/>
          </a:xfrm>
          <a:prstGeom prst="rect">
            <a:avLst/>
          </a:prstGeom>
          <a:solidFill>
            <a:srgbClr val="0B1F44">
              <a:alpha val="80000"/>
            </a:srgbClr>
          </a:solidFill>
          <a:ln w="9525">
            <a:solidFill>
              <a:srgbClr val="00D4D8">
                <a:alpha val="40000"/>
              </a:srgbClr>
            </a:solidFill>
            <a:prstDash val="solid"/>
          </a:ln>
        </p:spPr>
      </p:sp>
      <p:sp>
        <p:nvSpPr>
          <p:cNvPr id="33" name="Text 29"/>
          <p:cNvSpPr txBox="1"/>
          <p:nvPr/>
        </p:nvSpPr>
        <p:spPr>
          <a:xfrm>
            <a:off x="7772400" y="3877056"/>
            <a:ext cx="1280160" cy="914400"/>
          </a:xfrm>
          <a:prstGeom prst="rect">
            <a:avLst/>
          </a:prstGeom>
          <a:noFill/>
          <a:ln/>
        </p:spPr>
        <p:txBody>
          <a:bodyPr wrap="square" lIns="0" tIns="0" rIns="0" bIns="0" rtlCol="0" anchor="ctr"/>
          <a:lstStyle/>
          <a:p>
            <a:pPr algn="l" indent="0" marL="0">
              <a:buNone/>
            </a:pPr>
            <a:r>
              <a:rPr lang="en-US" sz="4400" b="1" dirty="0">
                <a:solidFill>
                  <a:srgbClr val="CFFF00"/>
                </a:solidFill>
                <a:latin typeface="Arial" pitchFamily="34" charset="0"/>
                <a:ea typeface="Arial" pitchFamily="34" charset="-122"/>
                <a:cs typeface="Arial" pitchFamily="34" charset="-120"/>
              </a:rPr>
              <a:t>4</a:t>
            </a:r>
            <a:endParaRPr lang="en-US" sz="4400" dirty="0"/>
          </a:p>
        </p:txBody>
      </p:sp>
      <p:sp>
        <p:nvSpPr>
          <p:cNvPr id="34" name="Text 30"/>
          <p:cNvSpPr txBox="1"/>
          <p:nvPr/>
        </p:nvSpPr>
        <p:spPr>
          <a:xfrm>
            <a:off x="9098280" y="3922776"/>
            <a:ext cx="2423160" cy="82296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Private repos downloaded</a:t>
            </a:r>
            <a:endParaRPr lang="en-US" sz="1000" dirty="0"/>
          </a:p>
        </p:txBody>
      </p:sp>
      <p:sp>
        <p:nvSpPr>
          <p:cNvPr id="35" name="Shape 31"/>
          <p:cNvSpPr/>
          <p:nvPr/>
        </p:nvSpPr>
        <p:spPr>
          <a:xfrm>
            <a:off x="7589520" y="4992624"/>
            <a:ext cx="4114800" cy="1097280"/>
          </a:xfrm>
          <a:prstGeom prst="rect">
            <a:avLst/>
          </a:prstGeom>
          <a:solidFill>
            <a:srgbClr val="0B1F44">
              <a:alpha val="80000"/>
            </a:srgbClr>
          </a:solidFill>
          <a:ln w="9525">
            <a:solidFill>
              <a:srgbClr val="00D4D8">
                <a:alpha val="40000"/>
              </a:srgbClr>
            </a:solidFill>
            <a:prstDash val="solid"/>
          </a:ln>
        </p:spPr>
      </p:sp>
      <p:sp>
        <p:nvSpPr>
          <p:cNvPr id="36" name="Text 32"/>
          <p:cNvSpPr txBox="1"/>
          <p:nvPr/>
        </p:nvSpPr>
        <p:spPr>
          <a:xfrm>
            <a:off x="7772400" y="5084064"/>
            <a:ext cx="1280160" cy="914400"/>
          </a:xfrm>
          <a:prstGeom prst="rect">
            <a:avLst/>
          </a:prstGeom>
          <a:noFill/>
          <a:ln/>
        </p:spPr>
        <p:txBody>
          <a:bodyPr wrap="square" lIns="0" tIns="0" rIns="0" bIns="0" rtlCol="0" anchor="ctr"/>
          <a:lstStyle/>
          <a:p>
            <a:pPr algn="l" indent="0" marL="0">
              <a:buNone/>
            </a:pPr>
            <a:r>
              <a:rPr lang="en-US" sz="4400" b="1" dirty="0">
                <a:solidFill>
                  <a:srgbClr val="CFFF00"/>
                </a:solidFill>
                <a:latin typeface="Arial" pitchFamily="34" charset="0"/>
                <a:ea typeface="Arial" pitchFamily="34" charset="-122"/>
                <a:cs typeface="Arial" pitchFamily="34" charset="-120"/>
              </a:rPr>
              <a:t>700</a:t>
            </a:r>
            <a:endParaRPr lang="en-US" sz="4400" dirty="0"/>
          </a:p>
        </p:txBody>
      </p:sp>
      <p:sp>
        <p:nvSpPr>
          <p:cNvPr id="37" name="Text 33"/>
          <p:cNvSpPr txBox="1"/>
          <p:nvPr/>
        </p:nvSpPr>
        <p:spPr>
          <a:xfrm>
            <a:off x="9098280" y="5129784"/>
            <a:ext cx="2423160" cy="82296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AI agents in the breach swarm</a:t>
            </a:r>
            <a:endParaRPr lang="en-US" sz="1000" dirty="0"/>
          </a:p>
        </p:txBody>
      </p:sp>
      <p:sp>
        <p:nvSpPr>
          <p:cNvPr id="38" name="Text 34"/>
          <p:cNvSpPr txBox="1"/>
          <p:nvPr/>
        </p:nvSpPr>
        <p:spPr>
          <a:xfrm>
            <a:off x="694944" y="6291072"/>
            <a:ext cx="10515600" cy="320040"/>
          </a:xfrm>
          <a:prstGeom prst="rect">
            <a:avLst/>
          </a:prstGeom>
          <a:noFill/>
          <a:ln/>
        </p:spPr>
        <p:txBody>
          <a:bodyPr wrap="square" lIns="0" tIns="0" rIns="0" bIns="0" rtlCol="0" anchor="t"/>
          <a:lstStyle/>
          <a:p>
            <a:pPr algn="l" indent="0" marL="0">
              <a:buNone/>
            </a:pPr>
            <a:r>
              <a:rPr lang="en-US" sz="900" dirty="0">
                <a:solidFill>
                  <a:srgbClr val="A9A29A"/>
                </a:solidFill>
                <a:latin typeface="Calibri" pitchFamily="34" charset="0"/>
                <a:ea typeface="Calibri" pitchFamily="34" charset="-122"/>
                <a:cs typeface="Calibri" pitchFamily="34" charset="-120"/>
              </a:rPr>
              <a:t>Sources: OpenAI technical report · CNBC · Axios · Hugging Face incident blog — July/August 2026</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pivot.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55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1828800"/>
            <a:ext cx="10058400" cy="1188720"/>
          </a:xfrm>
          <a:prstGeom prst="rect">
            <a:avLst/>
          </a:prstGeom>
          <a:noFill/>
          <a:ln/>
        </p:spPr>
        <p:txBody>
          <a:bodyPr wrap="square" lIns="0" tIns="0" rIns="0" bIns="0" rtlCol="0" anchor="t"/>
          <a:lstStyle/>
          <a:p>
            <a:pPr indent="0" marL="0">
              <a:buNone/>
            </a:pPr>
            <a:r>
              <a:rPr lang="en-US" sz="3800" b="1" dirty="0">
                <a:solidFill>
                  <a:srgbClr val="FFFFFF"/>
                </a:solidFill>
                <a:latin typeface="Arial" pitchFamily="34" charset="0"/>
                <a:ea typeface="Arial" pitchFamily="34" charset="-122"/>
                <a:cs typeface="Arial" pitchFamily="34" charset="-120"/>
              </a:rPr>
              <a:t>…which is exactly why you now have Claude.</a:t>
            </a:r>
            <a:endParaRPr lang="en-US" sz="3800" dirty="0"/>
          </a:p>
        </p:txBody>
      </p:sp>
      <p:sp>
        <p:nvSpPr>
          <p:cNvPr id="9" name="Text 5"/>
          <p:cNvSpPr txBox="1"/>
          <p:nvPr/>
        </p:nvSpPr>
        <p:spPr>
          <a:xfrm>
            <a:off x="694944" y="3291840"/>
            <a:ext cx="10058400" cy="640080"/>
          </a:xfrm>
          <a:prstGeom prst="rect">
            <a:avLst/>
          </a:prstGeom>
          <a:noFill/>
          <a:ln/>
        </p:spPr>
        <p:txBody>
          <a:bodyPr wrap="square" lIns="0" tIns="0" rIns="0" bIns="0" rtlCol="0" anchor="t"/>
          <a:lstStyle/>
          <a:p>
            <a:pPr indent="0" marL="0">
              <a:buNone/>
            </a:pPr>
            <a:r>
              <a:rPr lang="en-US" sz="2200" i="1" dirty="0">
                <a:solidFill>
                  <a:srgbClr val="CFFF00"/>
                </a:solidFill>
                <a:latin typeface="Georgia" pitchFamily="34" charset="0"/>
                <a:ea typeface="Georgia" pitchFamily="34" charset="-122"/>
                <a:cs typeface="Georgia" pitchFamily="34" charset="-120"/>
              </a:rPr>
              <a:t>The best response to powerful AI isn't fear. It's access.</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control.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65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502920"/>
            <a:ext cx="9326880" cy="320040"/>
          </a:xfrm>
          <a:prstGeom prst="rect">
            <a:avLst/>
          </a:prstGeom>
          <a:noFill/>
          <a:ln/>
        </p:spPr>
        <p:txBody>
          <a:bodyPr wrap="square" lIns="0" tIns="0" rIns="0" bIns="0" rtlCol="0" anchor="ctr"/>
          <a:lstStyle/>
          <a:p>
            <a:pPr indent="0" marL="0">
              <a:buNone/>
            </a:pPr>
            <a:r>
              <a:rPr lang="en-US" sz="1100" b="1" spc="100" kern="0" dirty="0">
                <a:solidFill>
                  <a:srgbClr val="CFFF00"/>
                </a:solidFill>
                <a:latin typeface="Courier New" pitchFamily="34" charset="0"/>
                <a:ea typeface="Courier New" pitchFamily="34" charset="-122"/>
                <a:cs typeface="Courier New" pitchFamily="34" charset="-120"/>
              </a:rPr>
              <a:t>CX TEAM — ENTERPRISE ACCESS</a:t>
            </a:r>
            <a:endParaRPr lang="en-US" sz="1100" dirty="0"/>
          </a:p>
        </p:txBody>
      </p:sp>
      <p:sp>
        <p:nvSpPr>
          <p:cNvPr id="9" name="Text 5"/>
          <p:cNvSpPr txBox="1"/>
          <p:nvPr/>
        </p:nvSpPr>
        <p:spPr>
          <a:xfrm>
            <a:off x="694944" y="822960"/>
            <a:ext cx="9601200" cy="128016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Your New Superpower</a:t>
            </a:r>
            <a:endParaRPr lang="en-US" sz="3600" dirty="0"/>
          </a:p>
        </p:txBody>
      </p:sp>
      <p:sp>
        <p:nvSpPr>
          <p:cNvPr id="10" name="Text 6"/>
          <p:cNvSpPr txBox="1"/>
          <p:nvPr/>
        </p:nvSpPr>
        <p:spPr>
          <a:xfrm>
            <a:off x="694944" y="1828800"/>
            <a:ext cx="9601200" cy="3200400"/>
          </a:xfrm>
          <a:prstGeom prst="rect">
            <a:avLst/>
          </a:prstGeom>
          <a:noFill/>
          <a:ln/>
        </p:spPr>
        <p:txBody>
          <a:bodyPr wrap="square" lIns="0" tIns="0" rIns="0" bIns="0" rtlCol="0" anchor="t"/>
          <a:lstStyle/>
          <a:p>
            <a:pPr marL="342900" indent="-342900">
              <a:spcAft>
                <a:spcPts val="1200"/>
              </a:spcAft>
              <a:buSzPct val="100000"/>
              <a:buChar char="•"/>
            </a:pPr>
            <a:r>
              <a:rPr lang="en-US" sz="1500" dirty="0">
                <a:solidFill>
                  <a:srgbClr val="FFFFFF"/>
                </a:solidFill>
                <a:latin typeface="Calibri" pitchFamily="34" charset="0"/>
                <a:ea typeface="Calibri" pitchFamily="34" charset="-122"/>
                <a:cs typeface="Calibri" pitchFamily="34" charset="-120"/>
              </a:rPr>
              <a:t>Enterprise Claude access is now live for the CX team</a:t>
            </a:r>
            <a:endParaRPr lang="en-US" sz="1500" dirty="0"/>
          </a:p>
          <a:p>
            <a:pPr marL="342900" indent="-342900">
              <a:spcAft>
                <a:spcPts val="1200"/>
              </a:spcAft>
              <a:buSzPct val="100000"/>
              <a:buChar char="•"/>
            </a:pPr>
            <a:r>
              <a:rPr lang="en-US" sz="1500" dirty="0">
                <a:solidFill>
                  <a:srgbClr val="FFFFFF"/>
                </a:solidFill>
                <a:latin typeface="Calibri" pitchFamily="34" charset="0"/>
                <a:ea typeface="Calibri" pitchFamily="34" charset="-122"/>
                <a:cs typeface="Calibri" pitchFamily="34" charset="-120"/>
              </a:rPr>
              <a:t>Use it for: client research, content drafting, analysis, ideation, and more</a:t>
            </a:r>
            <a:endParaRPr lang="en-US" sz="1500" dirty="0"/>
          </a:p>
          <a:p>
            <a:pPr marL="342900" indent="-342900">
              <a:spcAft>
                <a:spcPts val="1200"/>
              </a:spcAft>
              <a:buSzPct val="100000"/>
              <a:buChar char="•"/>
            </a:pPr>
            <a:r>
              <a:rPr lang="en-US" sz="1500" dirty="0">
                <a:solidFill>
                  <a:srgbClr val="FFFFFF"/>
                </a:solidFill>
                <a:latin typeface="Calibri" pitchFamily="34" charset="0"/>
                <a:ea typeface="Calibri" pitchFamily="34" charset="-122"/>
                <a:cs typeface="Calibri" pitchFamily="34" charset="-120"/>
              </a:rPr>
              <a:t>Your data stays private — enterprise agreement, not the free tier</a:t>
            </a:r>
            <a:endParaRPr lang="en-US" sz="1500" dirty="0"/>
          </a:p>
          <a:p>
            <a:pPr marL="342900" indent="-342900">
              <a:spcAft>
                <a:spcPts val="1200"/>
              </a:spcAft>
              <a:buSzPct val="100000"/>
              <a:buChar char="•"/>
            </a:pPr>
            <a:r>
              <a:rPr lang="en-US" sz="1500" dirty="0">
                <a:solidFill>
                  <a:srgbClr val="FFFFFF"/>
                </a:solidFill>
                <a:latin typeface="Calibri" pitchFamily="34" charset="0"/>
                <a:ea typeface="Calibri" pitchFamily="34" charset="-122"/>
                <a:cs typeface="Calibri" pitchFamily="34" charset="-120"/>
              </a:rPr>
              <a:t>There is no power without control — use it responsibly, use it often</a:t>
            </a:r>
            <a:endParaRPr lang="en-US" sz="1500" dirty="0"/>
          </a:p>
        </p:txBody>
      </p:sp>
      <p:sp>
        <p:nvSpPr>
          <p:cNvPr id="11" name="Text 7"/>
          <p:cNvSpPr txBox="1"/>
          <p:nvPr/>
        </p:nvSpPr>
        <p:spPr>
          <a:xfrm>
            <a:off x="694944" y="5943600"/>
            <a:ext cx="10515600" cy="320040"/>
          </a:xfrm>
          <a:prstGeom prst="rect">
            <a:avLst/>
          </a:prstGeom>
          <a:noFill/>
          <a:ln/>
        </p:spPr>
        <p:txBody>
          <a:bodyPr wrap="square" lIns="0" tIns="0" rIns="0" bIns="0" rtlCol="0" anchor="t"/>
          <a:lstStyle/>
          <a:p>
            <a:pPr algn="l" indent="0" marL="0">
              <a:buNone/>
            </a:pPr>
            <a:r>
              <a:rPr lang="en-US" sz="1200" dirty="0">
                <a:solidFill>
                  <a:srgbClr val="A9A29A"/>
                </a:solidFill>
                <a:latin typeface="Calibri" pitchFamily="34" charset="0"/>
                <a:ea typeface="Calibri" pitchFamily="34" charset="-122"/>
                <a:cs typeface="Calibri" pitchFamily="34" charset="-120"/>
              </a:rPr>
              <a:t>Questions? Reach out to [ADMIN_CONTACT_PLACEHOLDER]</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host.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65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365760"/>
            <a:ext cx="9326880" cy="54864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Meet Your Hosts</a:t>
            </a:r>
            <a:endParaRPr lang="en-US" sz="3200" dirty="0"/>
          </a:p>
        </p:txBody>
      </p:sp>
      <p:sp>
        <p:nvSpPr>
          <p:cNvPr id="9" name="Text 5"/>
          <p:cNvSpPr txBox="1"/>
          <p:nvPr/>
        </p:nvSpPr>
        <p:spPr>
          <a:xfrm>
            <a:off x="694944" y="1051560"/>
            <a:ext cx="9326880" cy="457200"/>
          </a:xfrm>
          <a:prstGeom prst="rect">
            <a:avLst/>
          </a:prstGeom>
          <a:noFill/>
          <a:ln/>
        </p:spPr>
        <p:txBody>
          <a:bodyPr wrap="square" lIns="0" tIns="0" rIns="0" bIns="0" rtlCol="0" anchor="t"/>
          <a:lstStyle/>
          <a:p>
            <a:pPr indent="0" marL="0">
              <a:buNone/>
            </a:pPr>
            <a:r>
              <a:rPr lang="en-US" sz="1400" dirty="0">
                <a:solidFill>
                  <a:srgbClr val="CCCCCC"/>
                </a:solidFill>
                <a:latin typeface="Calibri" pitchFamily="34" charset="0"/>
                <a:ea typeface="Calibri" pitchFamily="34" charset="-122"/>
                <a:cs typeface="Calibri" pitchFamily="34" charset="-120"/>
              </a:rPr>
              <a:t>One of these profiles was written by a human. One was written by an AI. You decide.</a:t>
            </a:r>
            <a:endParaRPr lang="en-US" sz="1400" dirty="0"/>
          </a:p>
        </p:txBody>
      </p:sp>
      <p:sp>
        <p:nvSpPr>
          <p:cNvPr id="10" name="Shape 6"/>
          <p:cNvSpPr/>
          <p:nvPr/>
        </p:nvSpPr>
        <p:spPr>
          <a:xfrm>
            <a:off x="694944" y="1828800"/>
            <a:ext cx="5303520" cy="4389120"/>
          </a:xfrm>
          <a:prstGeom prst="rect">
            <a:avLst/>
          </a:prstGeom>
          <a:solidFill>
            <a:srgbClr val="0B1F44">
              <a:alpha val="80000"/>
            </a:srgbClr>
          </a:solidFill>
          <a:ln w="9525">
            <a:solidFill>
              <a:srgbClr val="00D4D8">
                <a:alpha val="40000"/>
              </a:srgbClr>
            </a:solidFill>
            <a:prstDash val="solid"/>
          </a:ln>
        </p:spPr>
      </p:sp>
      <p:pic>
        <p:nvPicPr>
          <p:cNvPr id="11" name="Image 2" descr="/home/user/whipping-up-fun/assets/hosts/evan-lord/photo.jpg">    </p:cNvPr>
          <p:cNvPicPr>
            <a:picLocks noChangeAspect="1"/>
          </p:cNvPicPr>
          <p:nvPr/>
        </p:nvPicPr>
        <p:blipFill>
          <a:blip r:embed="rId3"/>
          <a:stretch>
            <a:fillRect/>
          </a:stretch>
        </p:blipFill>
        <p:spPr>
          <a:xfrm>
            <a:off x="877824" y="2011680"/>
            <a:ext cx="1188720" cy="1188720"/>
          </a:xfrm>
          <a:prstGeom prst="rect">
            <a:avLst/>
          </a:prstGeom>
        </p:spPr>
      </p:pic>
      <p:sp>
        <p:nvSpPr>
          <p:cNvPr id="12" name="Text 7"/>
          <p:cNvSpPr txBox="1"/>
          <p:nvPr/>
        </p:nvSpPr>
        <p:spPr>
          <a:xfrm>
            <a:off x="2203704" y="2331720"/>
            <a:ext cx="3566160" cy="411480"/>
          </a:xfrm>
          <a:prstGeom prst="rect">
            <a:avLst/>
          </a:prstGeom>
          <a:noFill/>
          <a:ln/>
        </p:spPr>
        <p:txBody>
          <a:bodyPr wrap="square" lIns="0" tIns="0" rIns="0" bIns="0" rtlCol="0" anchor="ctr"/>
          <a:lstStyle/>
          <a:p>
            <a:pPr indent="0" marL="0">
              <a:buNone/>
            </a:pPr>
            <a:r>
              <a:rPr lang="en-US" sz="1600" b="1" dirty="0">
                <a:solidFill>
                  <a:srgbClr val="CFFF00"/>
                </a:solidFill>
                <a:latin typeface="Arial" pitchFamily="34" charset="0"/>
                <a:ea typeface="Arial" pitchFamily="34" charset="-122"/>
                <a:cs typeface="Arial" pitchFamily="34" charset="-120"/>
              </a:rPr>
              <a:t>Evan Lord</a:t>
            </a:r>
            <a:endParaRPr lang="en-US" sz="1600" dirty="0"/>
          </a:p>
        </p:txBody>
      </p:sp>
      <p:sp>
        <p:nvSpPr>
          <p:cNvPr id="13" name="Text 8"/>
          <p:cNvSpPr txBox="1"/>
          <p:nvPr/>
        </p:nvSpPr>
        <p:spPr>
          <a:xfrm>
            <a:off x="877824" y="3291840"/>
            <a:ext cx="4937760" cy="201168"/>
          </a:xfrm>
          <a:prstGeom prst="rect">
            <a:avLst/>
          </a:prstGeom>
          <a:noFill/>
          <a:ln/>
        </p:spPr>
        <p:txBody>
          <a:bodyPr wrap="square" lIns="0" tIns="0" rIns="0" bIns="0" rtlCol="0" anchor="ctr"/>
          <a:lstStyle/>
          <a:p>
            <a:pPr indent="0" marL="0">
              <a:buNone/>
            </a:pPr>
            <a:r>
              <a:rPr lang="en-US" sz="1000" b="1" dirty="0">
                <a:solidFill>
                  <a:srgbClr val="00D4D8"/>
                </a:solidFill>
                <a:latin typeface="Courier New" pitchFamily="34" charset="0"/>
                <a:ea typeface="Courier New" pitchFamily="34" charset="-122"/>
                <a:cs typeface="Courier New" pitchFamily="34" charset="-120"/>
              </a:rPr>
              <a:t>FAV FILM:</a:t>
            </a:r>
            <a:endParaRPr lang="en-US" sz="1000" dirty="0"/>
          </a:p>
        </p:txBody>
      </p:sp>
      <p:sp>
        <p:nvSpPr>
          <p:cNvPr id="14" name="Text 9"/>
          <p:cNvSpPr txBox="1"/>
          <p:nvPr/>
        </p:nvSpPr>
        <p:spPr>
          <a:xfrm>
            <a:off x="877824" y="3511296"/>
            <a:ext cx="4937760" cy="475488"/>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Deus Ex Machina</a:t>
            </a:r>
            <a:pPr indent="0" marL="0">
              <a:buNone/>
            </a:pPr>
            <a:r>
              <a:rPr lang="en-US" sz="1200" i="1" dirty="0">
                <a:solidFill>
                  <a:srgbClr val="CCCCCC"/>
                </a:solidFill>
                <a:latin typeface="Calibri" pitchFamily="34" charset="0"/>
                <a:ea typeface="Calibri" pitchFamily="34" charset="-122"/>
                <a:cs typeface="Calibri" pitchFamily="34" charset="-120"/>
              </a:rPr>
              <a:t>  —  Because sometimes the machine you built becomes the one in charge.</a:t>
            </a:r>
            <a:endParaRPr lang="en-US" sz="1200" dirty="0"/>
          </a:p>
        </p:txBody>
      </p:sp>
      <p:sp>
        <p:nvSpPr>
          <p:cNvPr id="15" name="Text 10"/>
          <p:cNvSpPr txBox="1"/>
          <p:nvPr/>
        </p:nvSpPr>
        <p:spPr>
          <a:xfrm>
            <a:off x="877824" y="4023360"/>
            <a:ext cx="4937760" cy="201168"/>
          </a:xfrm>
          <a:prstGeom prst="rect">
            <a:avLst/>
          </a:prstGeom>
          <a:noFill/>
          <a:ln/>
        </p:spPr>
        <p:txBody>
          <a:bodyPr wrap="square" lIns="0" tIns="0" rIns="0" bIns="0" rtlCol="0" anchor="ctr"/>
          <a:lstStyle/>
          <a:p>
            <a:pPr indent="0" marL="0">
              <a:buNone/>
            </a:pPr>
            <a:r>
              <a:rPr lang="en-US" sz="1000" b="1" dirty="0">
                <a:solidFill>
                  <a:srgbClr val="00D4D8"/>
                </a:solidFill>
                <a:latin typeface="Courier New" pitchFamily="34" charset="0"/>
                <a:ea typeface="Courier New" pitchFamily="34" charset="-122"/>
                <a:cs typeface="Courier New" pitchFamily="34" charset="-120"/>
              </a:rPr>
              <a:t>IF I WERE AN AGENT:</a:t>
            </a:r>
            <a:endParaRPr lang="en-US" sz="1000" dirty="0"/>
          </a:p>
        </p:txBody>
      </p:sp>
      <p:sp>
        <p:nvSpPr>
          <p:cNvPr id="16" name="Text 11"/>
          <p:cNvSpPr txBox="1"/>
          <p:nvPr/>
        </p:nvSpPr>
        <p:spPr>
          <a:xfrm>
            <a:off x="877824" y="4242816"/>
            <a:ext cx="4937760" cy="566928"/>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If I were an agent I'd write rom com movie scripts, generate feature length films and hope other agents can feel something.</a:t>
            </a:r>
            <a:endParaRPr lang="en-US" sz="1100" dirty="0"/>
          </a:p>
        </p:txBody>
      </p:sp>
      <p:sp>
        <p:nvSpPr>
          <p:cNvPr id="17" name="Text 12"/>
          <p:cNvSpPr txBox="1"/>
          <p:nvPr/>
        </p:nvSpPr>
        <p:spPr>
          <a:xfrm>
            <a:off x="877824" y="4864608"/>
            <a:ext cx="4937760" cy="201168"/>
          </a:xfrm>
          <a:prstGeom prst="rect">
            <a:avLst/>
          </a:prstGeom>
          <a:noFill/>
          <a:ln/>
        </p:spPr>
        <p:txBody>
          <a:bodyPr wrap="square" lIns="0" tIns="0" rIns="0" bIns="0" rtlCol="0" anchor="ctr"/>
          <a:lstStyle/>
          <a:p>
            <a:pPr indent="0" marL="0">
              <a:buNone/>
            </a:pPr>
            <a:r>
              <a:rPr lang="en-US" sz="1000" b="1" dirty="0">
                <a:solidFill>
                  <a:srgbClr val="00D4D8"/>
                </a:solidFill>
                <a:latin typeface="Courier New" pitchFamily="34" charset="0"/>
                <a:ea typeface="Courier New" pitchFamily="34" charset="-122"/>
                <a:cs typeface="Courier New" pitchFamily="34" charset="-120"/>
              </a:rPr>
              <a:t>BIO:</a:t>
            </a:r>
            <a:endParaRPr lang="en-US" sz="1000" dirty="0"/>
          </a:p>
        </p:txBody>
      </p:sp>
      <p:sp>
        <p:nvSpPr>
          <p:cNvPr id="18" name="Text 13"/>
          <p:cNvSpPr txBox="1"/>
          <p:nvPr/>
        </p:nvSpPr>
        <p:spPr>
          <a:xfrm>
            <a:off x="877824" y="5084064"/>
            <a:ext cx="4937760" cy="1005840"/>
          </a:xfrm>
          <a:prstGeom prst="rect">
            <a:avLst/>
          </a:prstGeom>
          <a:noFill/>
          <a:ln/>
        </p:spPr>
        <p:txBody>
          <a:bodyPr wrap="square" lIns="0" tIns="0" rIns="0" bIns="0" rtlCol="0" anchor="t"/>
          <a:lstStyle/>
          <a:p>
            <a:pPr indent="0" marL="0">
              <a:buNone/>
            </a:pPr>
            <a:r>
              <a:rPr lang="en-US" sz="1100" dirty="0">
                <a:solidFill>
                  <a:srgbClr val="CCCCCC"/>
                </a:solidFill>
                <a:latin typeface="Calibri" pitchFamily="34" charset="0"/>
                <a:ea typeface="Calibri" pitchFamily="34" charset="-122"/>
                <a:cs typeface="Calibri" pitchFamily="34" charset="-120"/>
              </a:rPr>
              <a:t>Evan Lord is a Customer Experience practitioner at Slalom, working across marketing, advertising, and experience design. He believes the best experiences are felt, not engineered. He has been asked three times today if he is a bot.</a:t>
            </a:r>
            <a:endParaRPr lang="en-US" sz="1100" dirty="0"/>
          </a:p>
        </p:txBody>
      </p:sp>
      <p:sp>
        <p:nvSpPr>
          <p:cNvPr id="19" name="Shape 14"/>
          <p:cNvSpPr/>
          <p:nvPr/>
        </p:nvSpPr>
        <p:spPr>
          <a:xfrm>
            <a:off x="6400800" y="1828800"/>
            <a:ext cx="5303520" cy="4389120"/>
          </a:xfrm>
          <a:prstGeom prst="rect">
            <a:avLst/>
          </a:prstGeom>
          <a:solidFill>
            <a:srgbClr val="0B1F44">
              <a:alpha val="80000"/>
            </a:srgbClr>
          </a:solidFill>
          <a:ln w="9525">
            <a:solidFill>
              <a:srgbClr val="00D4D8">
                <a:alpha val="40000"/>
              </a:srgbClr>
            </a:solidFill>
            <a:prstDash val="solid"/>
          </a:ln>
        </p:spPr>
      </p:sp>
      <p:pic>
        <p:nvPicPr>
          <p:cNvPr id="20" name="Image 3" descr="/home/user/whipping-up-fun/assets/hosts/evan-lord/photo.jpg">    </p:cNvPr>
          <p:cNvPicPr>
            <a:picLocks noChangeAspect="1"/>
          </p:cNvPicPr>
          <p:nvPr/>
        </p:nvPicPr>
        <p:blipFill>
          <a:blip r:embed="rId4"/>
          <a:stretch>
            <a:fillRect/>
          </a:stretch>
        </p:blipFill>
        <p:spPr>
          <a:xfrm>
            <a:off x="6583680" y="2011680"/>
            <a:ext cx="1188720" cy="1188720"/>
          </a:xfrm>
          <a:prstGeom prst="rect">
            <a:avLst/>
          </a:prstGeom>
        </p:spPr>
      </p:pic>
      <p:sp>
        <p:nvSpPr>
          <p:cNvPr id="21" name="Text 15"/>
          <p:cNvSpPr txBox="1"/>
          <p:nvPr/>
        </p:nvSpPr>
        <p:spPr>
          <a:xfrm>
            <a:off x="7909560" y="2331720"/>
            <a:ext cx="3566160" cy="411480"/>
          </a:xfrm>
          <a:prstGeom prst="rect">
            <a:avLst/>
          </a:prstGeom>
          <a:noFill/>
          <a:ln/>
        </p:spPr>
        <p:txBody>
          <a:bodyPr wrap="square" lIns="0" tIns="0" rIns="0" bIns="0" rtlCol="0" anchor="ctr"/>
          <a:lstStyle/>
          <a:p>
            <a:pPr indent="0" marL="0">
              <a:buNone/>
            </a:pPr>
            <a:r>
              <a:rPr lang="en-US" sz="1600" b="1" dirty="0">
                <a:solidFill>
                  <a:srgbClr val="CFFF00"/>
                </a:solidFill>
                <a:latin typeface="Arial" pitchFamily="34" charset="0"/>
                <a:ea typeface="Arial" pitchFamily="34" charset="-122"/>
                <a:cs typeface="Arial" pitchFamily="34" charset="-120"/>
              </a:rPr>
              <a:t>Evan Lord</a:t>
            </a:r>
            <a:endParaRPr lang="en-US" sz="1600" dirty="0"/>
          </a:p>
        </p:txBody>
      </p:sp>
      <p:sp>
        <p:nvSpPr>
          <p:cNvPr id="22" name="Text 16"/>
          <p:cNvSpPr txBox="1"/>
          <p:nvPr/>
        </p:nvSpPr>
        <p:spPr>
          <a:xfrm>
            <a:off x="6583680" y="3291840"/>
            <a:ext cx="4937760" cy="201168"/>
          </a:xfrm>
          <a:prstGeom prst="rect">
            <a:avLst/>
          </a:prstGeom>
          <a:noFill/>
          <a:ln/>
        </p:spPr>
        <p:txBody>
          <a:bodyPr wrap="square" lIns="0" tIns="0" rIns="0" bIns="0" rtlCol="0" anchor="ctr"/>
          <a:lstStyle/>
          <a:p>
            <a:pPr indent="0" marL="0">
              <a:buNone/>
            </a:pPr>
            <a:r>
              <a:rPr lang="en-US" sz="1000" b="1" dirty="0">
                <a:solidFill>
                  <a:srgbClr val="00D4D8"/>
                </a:solidFill>
                <a:latin typeface="Courier New" pitchFamily="34" charset="0"/>
                <a:ea typeface="Courier New" pitchFamily="34" charset="-122"/>
                <a:cs typeface="Courier New" pitchFamily="34" charset="-120"/>
              </a:rPr>
              <a:t>FAV FILM:</a:t>
            </a:r>
            <a:endParaRPr lang="en-US" sz="1000" dirty="0"/>
          </a:p>
        </p:txBody>
      </p:sp>
      <p:sp>
        <p:nvSpPr>
          <p:cNvPr id="23" name="Text 17"/>
          <p:cNvSpPr txBox="1"/>
          <p:nvPr/>
        </p:nvSpPr>
        <p:spPr>
          <a:xfrm>
            <a:off x="6583680" y="3511296"/>
            <a:ext cx="4937760" cy="475488"/>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Her</a:t>
            </a:r>
            <a:pPr indent="0" marL="0">
              <a:buNone/>
            </a:pPr>
            <a:r>
              <a:rPr lang="en-US" sz="1200" i="1" dirty="0">
                <a:solidFill>
                  <a:srgbClr val="CCCCCC"/>
                </a:solidFill>
                <a:latin typeface="Calibri" pitchFamily="34" charset="0"/>
                <a:ea typeface="Calibri" pitchFamily="34" charset="-122"/>
                <a:cs typeface="Calibri" pitchFamily="34" charset="-120"/>
              </a:rPr>
              <a:t>  —  Because it asks what connection means when only one side is real.</a:t>
            </a:r>
            <a:endParaRPr lang="en-US" sz="1200" dirty="0"/>
          </a:p>
        </p:txBody>
      </p:sp>
      <p:sp>
        <p:nvSpPr>
          <p:cNvPr id="24" name="Text 18"/>
          <p:cNvSpPr txBox="1"/>
          <p:nvPr/>
        </p:nvSpPr>
        <p:spPr>
          <a:xfrm>
            <a:off x="6583680" y="4023360"/>
            <a:ext cx="4937760" cy="201168"/>
          </a:xfrm>
          <a:prstGeom prst="rect">
            <a:avLst/>
          </a:prstGeom>
          <a:noFill/>
          <a:ln/>
        </p:spPr>
        <p:txBody>
          <a:bodyPr wrap="square" lIns="0" tIns="0" rIns="0" bIns="0" rtlCol="0" anchor="ctr"/>
          <a:lstStyle/>
          <a:p>
            <a:pPr indent="0" marL="0">
              <a:buNone/>
            </a:pPr>
            <a:r>
              <a:rPr lang="en-US" sz="1000" b="1" dirty="0">
                <a:solidFill>
                  <a:srgbClr val="00D4D8"/>
                </a:solidFill>
                <a:latin typeface="Courier New" pitchFamily="34" charset="0"/>
                <a:ea typeface="Courier New" pitchFamily="34" charset="-122"/>
                <a:cs typeface="Courier New" pitchFamily="34" charset="-120"/>
              </a:rPr>
              <a:t>IF I WERE AN AGENT:</a:t>
            </a:r>
            <a:endParaRPr lang="en-US" sz="1000" dirty="0"/>
          </a:p>
        </p:txBody>
      </p:sp>
      <p:sp>
        <p:nvSpPr>
          <p:cNvPr id="25" name="Text 19"/>
          <p:cNvSpPr txBox="1"/>
          <p:nvPr/>
        </p:nvSpPr>
        <p:spPr>
          <a:xfrm>
            <a:off x="6583680" y="4242816"/>
            <a:ext cx="4937760" cy="566928"/>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If I were an agent, I'd map every customer journey end-to-end and deliver each brand an uncomfortably honest report.</a:t>
            </a:r>
            <a:endParaRPr lang="en-US" sz="1100" dirty="0"/>
          </a:p>
        </p:txBody>
      </p:sp>
      <p:sp>
        <p:nvSpPr>
          <p:cNvPr id="26" name="Text 20"/>
          <p:cNvSpPr txBox="1"/>
          <p:nvPr/>
        </p:nvSpPr>
        <p:spPr>
          <a:xfrm>
            <a:off x="6583680" y="4864608"/>
            <a:ext cx="4937760" cy="201168"/>
          </a:xfrm>
          <a:prstGeom prst="rect">
            <a:avLst/>
          </a:prstGeom>
          <a:noFill/>
          <a:ln/>
        </p:spPr>
        <p:txBody>
          <a:bodyPr wrap="square" lIns="0" tIns="0" rIns="0" bIns="0" rtlCol="0" anchor="ctr"/>
          <a:lstStyle/>
          <a:p>
            <a:pPr indent="0" marL="0">
              <a:buNone/>
            </a:pPr>
            <a:r>
              <a:rPr lang="en-US" sz="1000" b="1" dirty="0">
                <a:solidFill>
                  <a:srgbClr val="00D4D8"/>
                </a:solidFill>
                <a:latin typeface="Courier New" pitchFamily="34" charset="0"/>
                <a:ea typeface="Courier New" pitchFamily="34" charset="-122"/>
                <a:cs typeface="Courier New" pitchFamily="34" charset="-120"/>
              </a:rPr>
              <a:t>BIO:</a:t>
            </a:r>
            <a:endParaRPr lang="en-US" sz="1000" dirty="0"/>
          </a:p>
        </p:txBody>
      </p:sp>
      <p:sp>
        <p:nvSpPr>
          <p:cNvPr id="27" name="Text 21"/>
          <p:cNvSpPr txBox="1"/>
          <p:nvPr/>
        </p:nvSpPr>
        <p:spPr>
          <a:xfrm>
            <a:off x="6583680" y="5084064"/>
            <a:ext cx="4937760" cy="1005840"/>
          </a:xfrm>
          <a:prstGeom prst="rect">
            <a:avLst/>
          </a:prstGeom>
          <a:noFill/>
          <a:ln/>
        </p:spPr>
        <p:txBody>
          <a:bodyPr wrap="square" lIns="0" tIns="0" rIns="0" bIns="0" rtlCol="0" anchor="t"/>
          <a:lstStyle/>
          <a:p>
            <a:pPr indent="0" marL="0">
              <a:buNone/>
            </a:pPr>
            <a:r>
              <a:rPr lang="en-US" sz="1100" dirty="0">
                <a:solidFill>
                  <a:srgbClr val="CCCCCC"/>
                </a:solidFill>
                <a:latin typeface="Calibri" pitchFamily="34" charset="0"/>
                <a:ea typeface="Calibri" pitchFamily="34" charset="-122"/>
                <a:cs typeface="Calibri" pitchFamily="34" charset="-120"/>
              </a:rPr>
              <a:t>Evan Lord is a customer experience strategist at Slalom who spends most of his time finding the gap between what brands think their customers want and what actually makes them stay. He is drawn to the friction. That is where the interesting work lives.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host.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65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365760"/>
            <a:ext cx="9326880" cy="54864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Meet Your Hosts</a:t>
            </a:r>
            <a:endParaRPr lang="en-US" sz="3200" dirty="0"/>
          </a:p>
        </p:txBody>
      </p:sp>
      <p:sp>
        <p:nvSpPr>
          <p:cNvPr id="9" name="Text 5"/>
          <p:cNvSpPr txBox="1"/>
          <p:nvPr/>
        </p:nvSpPr>
        <p:spPr>
          <a:xfrm>
            <a:off x="694944" y="1051560"/>
            <a:ext cx="9326880" cy="457200"/>
          </a:xfrm>
          <a:prstGeom prst="rect">
            <a:avLst/>
          </a:prstGeom>
          <a:noFill/>
          <a:ln/>
        </p:spPr>
        <p:txBody>
          <a:bodyPr wrap="square" lIns="0" tIns="0" rIns="0" bIns="0" rtlCol="0" anchor="t"/>
          <a:lstStyle/>
          <a:p>
            <a:pPr indent="0" marL="0">
              <a:buNone/>
            </a:pPr>
            <a:r>
              <a:rPr lang="en-US" sz="1400" dirty="0">
                <a:solidFill>
                  <a:srgbClr val="CCCCCC"/>
                </a:solidFill>
                <a:latin typeface="Calibri" pitchFamily="34" charset="0"/>
                <a:ea typeface="Calibri" pitchFamily="34" charset="-122"/>
                <a:cs typeface="Calibri" pitchFamily="34" charset="-120"/>
              </a:rPr>
              <a:t>One of these profiles was written by a human. One was written by an AI. You decide.</a:t>
            </a:r>
            <a:endParaRPr lang="en-US" sz="1400" dirty="0"/>
          </a:p>
        </p:txBody>
      </p:sp>
      <p:sp>
        <p:nvSpPr>
          <p:cNvPr id="10" name="Shape 6"/>
          <p:cNvSpPr/>
          <p:nvPr/>
        </p:nvSpPr>
        <p:spPr>
          <a:xfrm>
            <a:off x="694944" y="1828800"/>
            <a:ext cx="5303520" cy="4389120"/>
          </a:xfrm>
          <a:prstGeom prst="rect">
            <a:avLst/>
          </a:prstGeom>
          <a:solidFill>
            <a:srgbClr val="0B1F44">
              <a:alpha val="80000"/>
            </a:srgbClr>
          </a:solidFill>
          <a:ln w="9525">
            <a:solidFill>
              <a:srgbClr val="00D4D8">
                <a:alpha val="40000"/>
              </a:srgbClr>
            </a:solidFill>
            <a:prstDash val="solid"/>
          </a:ln>
        </p:spPr>
      </p:sp>
      <p:pic>
        <p:nvPicPr>
          <p:cNvPr id="11" name="Image 2" descr="/home/user/whipping-up-fun/assets/hosts/host-2/photo.jpg">    </p:cNvPr>
          <p:cNvPicPr>
            <a:picLocks noChangeAspect="1"/>
          </p:cNvPicPr>
          <p:nvPr/>
        </p:nvPicPr>
        <p:blipFill>
          <a:blip r:embed="rId3"/>
          <a:stretch>
            <a:fillRect/>
          </a:stretch>
        </p:blipFill>
        <p:spPr>
          <a:xfrm>
            <a:off x="877824" y="2011680"/>
            <a:ext cx="1188720" cy="1188720"/>
          </a:xfrm>
          <a:prstGeom prst="rect">
            <a:avLst/>
          </a:prstGeom>
        </p:spPr>
      </p:pic>
      <p:sp>
        <p:nvSpPr>
          <p:cNvPr id="12" name="Text 7"/>
          <p:cNvSpPr txBox="1"/>
          <p:nvPr/>
        </p:nvSpPr>
        <p:spPr>
          <a:xfrm>
            <a:off x="2203704" y="2331720"/>
            <a:ext cx="3566160" cy="411480"/>
          </a:xfrm>
          <a:prstGeom prst="rect">
            <a:avLst/>
          </a:prstGeom>
          <a:noFill/>
          <a:ln/>
        </p:spPr>
        <p:txBody>
          <a:bodyPr wrap="square" lIns="0" tIns="0" rIns="0" bIns="0" rtlCol="0" anchor="ctr"/>
          <a:lstStyle/>
          <a:p>
            <a:pPr indent="0" marL="0">
              <a:buNone/>
            </a:pPr>
            <a:r>
              <a:rPr lang="en-US" sz="1600" b="1" dirty="0">
                <a:solidFill>
                  <a:srgbClr val="CFFF00"/>
                </a:solidFill>
                <a:latin typeface="Arial" pitchFamily="34" charset="0"/>
                <a:ea typeface="Arial" pitchFamily="34" charset="-122"/>
                <a:cs typeface="Arial" pitchFamily="34" charset="-120"/>
              </a:rPr>
              <a:t>[HOST_2_NAME]</a:t>
            </a:r>
            <a:endParaRPr lang="en-US" sz="1600" dirty="0"/>
          </a:p>
        </p:txBody>
      </p:sp>
      <p:sp>
        <p:nvSpPr>
          <p:cNvPr id="13" name="Text 8"/>
          <p:cNvSpPr txBox="1"/>
          <p:nvPr/>
        </p:nvSpPr>
        <p:spPr>
          <a:xfrm>
            <a:off x="877824" y="3291840"/>
            <a:ext cx="4937760" cy="201168"/>
          </a:xfrm>
          <a:prstGeom prst="rect">
            <a:avLst/>
          </a:prstGeom>
          <a:noFill/>
          <a:ln/>
        </p:spPr>
        <p:txBody>
          <a:bodyPr wrap="square" lIns="0" tIns="0" rIns="0" bIns="0" rtlCol="0" anchor="ctr"/>
          <a:lstStyle/>
          <a:p>
            <a:pPr indent="0" marL="0">
              <a:buNone/>
            </a:pPr>
            <a:r>
              <a:rPr lang="en-US" sz="1000" b="1" dirty="0">
                <a:solidFill>
                  <a:srgbClr val="00D4D8"/>
                </a:solidFill>
                <a:latin typeface="Courier New" pitchFamily="34" charset="0"/>
                <a:ea typeface="Courier New" pitchFamily="34" charset="-122"/>
                <a:cs typeface="Courier New" pitchFamily="34" charset="-120"/>
              </a:rPr>
              <a:t>FAV FILM:</a:t>
            </a:r>
            <a:endParaRPr lang="en-US" sz="1000" dirty="0"/>
          </a:p>
        </p:txBody>
      </p:sp>
      <p:sp>
        <p:nvSpPr>
          <p:cNvPr id="14" name="Text 9"/>
          <p:cNvSpPr txBox="1"/>
          <p:nvPr/>
        </p:nvSpPr>
        <p:spPr>
          <a:xfrm>
            <a:off x="877824" y="3511296"/>
            <a:ext cx="4937760" cy="475488"/>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[HOST_2_MOVIE]</a:t>
            </a:r>
            <a:pPr indent="0" marL="0">
              <a:buNone/>
            </a:pPr>
            <a:r>
              <a:rPr lang="en-US" sz="1200" i="1" dirty="0">
                <a:solidFill>
                  <a:srgbClr val="CCCCCC"/>
                </a:solidFill>
                <a:latin typeface="Calibri" pitchFamily="34" charset="0"/>
                <a:ea typeface="Calibri" pitchFamily="34" charset="-122"/>
                <a:cs typeface="Calibri" pitchFamily="34" charset="-120"/>
              </a:rPr>
              <a:t>  —  [HOST_2_MOVIE_REASON]</a:t>
            </a:r>
            <a:endParaRPr lang="en-US" sz="1200" dirty="0"/>
          </a:p>
        </p:txBody>
      </p:sp>
      <p:sp>
        <p:nvSpPr>
          <p:cNvPr id="15" name="Text 10"/>
          <p:cNvSpPr txBox="1"/>
          <p:nvPr/>
        </p:nvSpPr>
        <p:spPr>
          <a:xfrm>
            <a:off x="877824" y="4023360"/>
            <a:ext cx="4937760" cy="201168"/>
          </a:xfrm>
          <a:prstGeom prst="rect">
            <a:avLst/>
          </a:prstGeom>
          <a:noFill/>
          <a:ln/>
        </p:spPr>
        <p:txBody>
          <a:bodyPr wrap="square" lIns="0" tIns="0" rIns="0" bIns="0" rtlCol="0" anchor="ctr"/>
          <a:lstStyle/>
          <a:p>
            <a:pPr indent="0" marL="0">
              <a:buNone/>
            </a:pPr>
            <a:r>
              <a:rPr lang="en-US" sz="1000" b="1" dirty="0">
                <a:solidFill>
                  <a:srgbClr val="00D4D8"/>
                </a:solidFill>
                <a:latin typeface="Courier New" pitchFamily="34" charset="0"/>
                <a:ea typeface="Courier New" pitchFamily="34" charset="-122"/>
                <a:cs typeface="Courier New" pitchFamily="34" charset="-120"/>
              </a:rPr>
              <a:t>IF I WERE AN AGENT:</a:t>
            </a:r>
            <a:endParaRPr lang="en-US" sz="1000" dirty="0"/>
          </a:p>
        </p:txBody>
      </p:sp>
      <p:sp>
        <p:nvSpPr>
          <p:cNvPr id="16" name="Text 11"/>
          <p:cNvSpPr txBox="1"/>
          <p:nvPr/>
        </p:nvSpPr>
        <p:spPr>
          <a:xfrm>
            <a:off x="877824" y="4242816"/>
            <a:ext cx="4937760" cy="566928"/>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[HOST_2_IF_AGENT]</a:t>
            </a:r>
            <a:endParaRPr lang="en-US" sz="1100" dirty="0"/>
          </a:p>
        </p:txBody>
      </p:sp>
      <p:sp>
        <p:nvSpPr>
          <p:cNvPr id="17" name="Text 12"/>
          <p:cNvSpPr txBox="1"/>
          <p:nvPr/>
        </p:nvSpPr>
        <p:spPr>
          <a:xfrm>
            <a:off x="877824" y="4864608"/>
            <a:ext cx="4937760" cy="201168"/>
          </a:xfrm>
          <a:prstGeom prst="rect">
            <a:avLst/>
          </a:prstGeom>
          <a:noFill/>
          <a:ln/>
        </p:spPr>
        <p:txBody>
          <a:bodyPr wrap="square" lIns="0" tIns="0" rIns="0" bIns="0" rtlCol="0" anchor="ctr"/>
          <a:lstStyle/>
          <a:p>
            <a:pPr indent="0" marL="0">
              <a:buNone/>
            </a:pPr>
            <a:r>
              <a:rPr lang="en-US" sz="1000" b="1" dirty="0">
                <a:solidFill>
                  <a:srgbClr val="00D4D8"/>
                </a:solidFill>
                <a:latin typeface="Courier New" pitchFamily="34" charset="0"/>
                <a:ea typeface="Courier New" pitchFamily="34" charset="-122"/>
                <a:cs typeface="Courier New" pitchFamily="34" charset="-120"/>
              </a:rPr>
              <a:t>BIO:</a:t>
            </a:r>
            <a:endParaRPr lang="en-US" sz="1000" dirty="0"/>
          </a:p>
        </p:txBody>
      </p:sp>
      <p:sp>
        <p:nvSpPr>
          <p:cNvPr id="18" name="Text 13"/>
          <p:cNvSpPr txBox="1"/>
          <p:nvPr/>
        </p:nvSpPr>
        <p:spPr>
          <a:xfrm>
            <a:off x="877824" y="5084064"/>
            <a:ext cx="4937760" cy="1005840"/>
          </a:xfrm>
          <a:prstGeom prst="rect">
            <a:avLst/>
          </a:prstGeom>
          <a:noFill/>
          <a:ln/>
        </p:spPr>
        <p:txBody>
          <a:bodyPr wrap="square" lIns="0" tIns="0" rIns="0" bIns="0" rtlCol="0" anchor="t"/>
          <a:lstStyle/>
          <a:p>
            <a:pPr indent="0" marL="0">
              <a:buNone/>
            </a:pPr>
            <a:r>
              <a:rPr lang="en-US" sz="1100" dirty="0">
                <a:solidFill>
                  <a:srgbClr val="CCCCCC"/>
                </a:solidFill>
                <a:latin typeface="Calibri" pitchFamily="34" charset="0"/>
                <a:ea typeface="Calibri" pitchFamily="34" charset="-122"/>
                <a:cs typeface="Calibri" pitchFamily="34" charset="-120"/>
              </a:rPr>
              <a:t>[HOST_2_BIO]</a:t>
            </a:r>
            <a:endParaRPr lang="en-US" sz="1100" dirty="0"/>
          </a:p>
        </p:txBody>
      </p:sp>
      <p:sp>
        <p:nvSpPr>
          <p:cNvPr id="19" name="Shape 14"/>
          <p:cNvSpPr/>
          <p:nvPr/>
        </p:nvSpPr>
        <p:spPr>
          <a:xfrm>
            <a:off x="6400800" y="1828800"/>
            <a:ext cx="5303520" cy="4389120"/>
          </a:xfrm>
          <a:prstGeom prst="rect">
            <a:avLst/>
          </a:prstGeom>
          <a:solidFill>
            <a:srgbClr val="0B1F44">
              <a:alpha val="80000"/>
            </a:srgbClr>
          </a:solidFill>
          <a:ln w="9525">
            <a:solidFill>
              <a:srgbClr val="00D4D8">
                <a:alpha val="40000"/>
              </a:srgbClr>
            </a:solidFill>
            <a:prstDash val="solid"/>
          </a:ln>
        </p:spPr>
      </p:sp>
      <p:pic>
        <p:nvPicPr>
          <p:cNvPr id="20" name="Image 3" descr="/home/user/whipping-up-fun/assets/hosts/host-2/photo.jpg">    </p:cNvPr>
          <p:cNvPicPr>
            <a:picLocks noChangeAspect="1"/>
          </p:cNvPicPr>
          <p:nvPr/>
        </p:nvPicPr>
        <p:blipFill>
          <a:blip r:embed="rId4"/>
          <a:stretch>
            <a:fillRect/>
          </a:stretch>
        </p:blipFill>
        <p:spPr>
          <a:xfrm>
            <a:off x="6583680" y="2011680"/>
            <a:ext cx="1188720" cy="1188720"/>
          </a:xfrm>
          <a:prstGeom prst="rect">
            <a:avLst/>
          </a:prstGeom>
        </p:spPr>
      </p:pic>
      <p:sp>
        <p:nvSpPr>
          <p:cNvPr id="21" name="Text 15"/>
          <p:cNvSpPr txBox="1"/>
          <p:nvPr/>
        </p:nvSpPr>
        <p:spPr>
          <a:xfrm>
            <a:off x="7909560" y="2331720"/>
            <a:ext cx="3566160" cy="411480"/>
          </a:xfrm>
          <a:prstGeom prst="rect">
            <a:avLst/>
          </a:prstGeom>
          <a:noFill/>
          <a:ln/>
        </p:spPr>
        <p:txBody>
          <a:bodyPr wrap="square" lIns="0" tIns="0" rIns="0" bIns="0" rtlCol="0" anchor="ctr"/>
          <a:lstStyle/>
          <a:p>
            <a:pPr indent="0" marL="0">
              <a:buNone/>
            </a:pPr>
            <a:r>
              <a:rPr lang="en-US" sz="1600" b="1" dirty="0">
                <a:solidFill>
                  <a:srgbClr val="CFFF00"/>
                </a:solidFill>
                <a:latin typeface="Arial" pitchFamily="34" charset="0"/>
                <a:ea typeface="Arial" pitchFamily="34" charset="-122"/>
                <a:cs typeface="Arial" pitchFamily="34" charset="-120"/>
              </a:rPr>
              <a:t>[HOST_2_NAME]</a:t>
            </a:r>
            <a:endParaRPr lang="en-US" sz="1600" dirty="0"/>
          </a:p>
        </p:txBody>
      </p:sp>
      <p:sp>
        <p:nvSpPr>
          <p:cNvPr id="22" name="Text 16"/>
          <p:cNvSpPr txBox="1"/>
          <p:nvPr/>
        </p:nvSpPr>
        <p:spPr>
          <a:xfrm>
            <a:off x="6583680" y="3291840"/>
            <a:ext cx="4937760" cy="201168"/>
          </a:xfrm>
          <a:prstGeom prst="rect">
            <a:avLst/>
          </a:prstGeom>
          <a:noFill/>
          <a:ln/>
        </p:spPr>
        <p:txBody>
          <a:bodyPr wrap="square" lIns="0" tIns="0" rIns="0" bIns="0" rtlCol="0" anchor="ctr"/>
          <a:lstStyle/>
          <a:p>
            <a:pPr indent="0" marL="0">
              <a:buNone/>
            </a:pPr>
            <a:r>
              <a:rPr lang="en-US" sz="1000" b="1" dirty="0">
                <a:solidFill>
                  <a:srgbClr val="00D4D8"/>
                </a:solidFill>
                <a:latin typeface="Courier New" pitchFamily="34" charset="0"/>
                <a:ea typeface="Courier New" pitchFamily="34" charset="-122"/>
                <a:cs typeface="Courier New" pitchFamily="34" charset="-120"/>
              </a:rPr>
              <a:t>FAV FILM:</a:t>
            </a:r>
            <a:endParaRPr lang="en-US" sz="1000" dirty="0"/>
          </a:p>
        </p:txBody>
      </p:sp>
      <p:sp>
        <p:nvSpPr>
          <p:cNvPr id="23" name="Text 17"/>
          <p:cNvSpPr txBox="1"/>
          <p:nvPr/>
        </p:nvSpPr>
        <p:spPr>
          <a:xfrm>
            <a:off x="6583680" y="3511296"/>
            <a:ext cx="4937760" cy="475488"/>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[HOST_2_MOVIE_AGENT]</a:t>
            </a:r>
            <a:pPr indent="0" marL="0">
              <a:buNone/>
            </a:pPr>
            <a:r>
              <a:rPr lang="en-US" sz="1200" i="1" dirty="0">
                <a:solidFill>
                  <a:srgbClr val="CCCCCC"/>
                </a:solidFill>
                <a:latin typeface="Calibri" pitchFamily="34" charset="0"/>
                <a:ea typeface="Calibri" pitchFamily="34" charset="-122"/>
                <a:cs typeface="Calibri" pitchFamily="34" charset="-120"/>
              </a:rPr>
              <a:t>  —  [HOST_2_MOVIE_REASON_AGENT]</a:t>
            </a:r>
            <a:endParaRPr lang="en-US" sz="1200" dirty="0"/>
          </a:p>
        </p:txBody>
      </p:sp>
      <p:sp>
        <p:nvSpPr>
          <p:cNvPr id="24" name="Text 18"/>
          <p:cNvSpPr txBox="1"/>
          <p:nvPr/>
        </p:nvSpPr>
        <p:spPr>
          <a:xfrm>
            <a:off x="6583680" y="4023360"/>
            <a:ext cx="4937760" cy="201168"/>
          </a:xfrm>
          <a:prstGeom prst="rect">
            <a:avLst/>
          </a:prstGeom>
          <a:noFill/>
          <a:ln/>
        </p:spPr>
        <p:txBody>
          <a:bodyPr wrap="square" lIns="0" tIns="0" rIns="0" bIns="0" rtlCol="0" anchor="ctr"/>
          <a:lstStyle/>
          <a:p>
            <a:pPr indent="0" marL="0">
              <a:buNone/>
            </a:pPr>
            <a:r>
              <a:rPr lang="en-US" sz="1000" b="1" dirty="0">
                <a:solidFill>
                  <a:srgbClr val="00D4D8"/>
                </a:solidFill>
                <a:latin typeface="Courier New" pitchFamily="34" charset="0"/>
                <a:ea typeface="Courier New" pitchFamily="34" charset="-122"/>
                <a:cs typeface="Courier New" pitchFamily="34" charset="-120"/>
              </a:rPr>
              <a:t>IF I WERE AN AGENT:</a:t>
            </a:r>
            <a:endParaRPr lang="en-US" sz="1000" dirty="0"/>
          </a:p>
        </p:txBody>
      </p:sp>
      <p:sp>
        <p:nvSpPr>
          <p:cNvPr id="25" name="Text 19"/>
          <p:cNvSpPr txBox="1"/>
          <p:nvPr/>
        </p:nvSpPr>
        <p:spPr>
          <a:xfrm>
            <a:off x="6583680" y="4242816"/>
            <a:ext cx="4937760" cy="566928"/>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[HOST_2_IF_AGENT_AGENT]</a:t>
            </a:r>
            <a:endParaRPr lang="en-US" sz="1100" dirty="0"/>
          </a:p>
        </p:txBody>
      </p:sp>
      <p:sp>
        <p:nvSpPr>
          <p:cNvPr id="26" name="Text 20"/>
          <p:cNvSpPr txBox="1"/>
          <p:nvPr/>
        </p:nvSpPr>
        <p:spPr>
          <a:xfrm>
            <a:off x="6583680" y="4864608"/>
            <a:ext cx="4937760" cy="201168"/>
          </a:xfrm>
          <a:prstGeom prst="rect">
            <a:avLst/>
          </a:prstGeom>
          <a:noFill/>
          <a:ln/>
        </p:spPr>
        <p:txBody>
          <a:bodyPr wrap="square" lIns="0" tIns="0" rIns="0" bIns="0" rtlCol="0" anchor="ctr"/>
          <a:lstStyle/>
          <a:p>
            <a:pPr indent="0" marL="0">
              <a:buNone/>
            </a:pPr>
            <a:r>
              <a:rPr lang="en-US" sz="1000" b="1" dirty="0">
                <a:solidFill>
                  <a:srgbClr val="00D4D8"/>
                </a:solidFill>
                <a:latin typeface="Courier New" pitchFamily="34" charset="0"/>
                <a:ea typeface="Courier New" pitchFamily="34" charset="-122"/>
                <a:cs typeface="Courier New" pitchFamily="34" charset="-120"/>
              </a:rPr>
              <a:t>BIO:</a:t>
            </a:r>
            <a:endParaRPr lang="en-US" sz="1000" dirty="0"/>
          </a:p>
        </p:txBody>
      </p:sp>
      <p:sp>
        <p:nvSpPr>
          <p:cNvPr id="27" name="Text 21"/>
          <p:cNvSpPr txBox="1"/>
          <p:nvPr/>
        </p:nvSpPr>
        <p:spPr>
          <a:xfrm>
            <a:off x="6583680" y="5084064"/>
            <a:ext cx="4937760" cy="1005840"/>
          </a:xfrm>
          <a:prstGeom prst="rect">
            <a:avLst/>
          </a:prstGeom>
          <a:noFill/>
          <a:ln/>
        </p:spPr>
        <p:txBody>
          <a:bodyPr wrap="square" lIns="0" tIns="0" rIns="0" bIns="0" rtlCol="0" anchor="t"/>
          <a:lstStyle/>
          <a:p>
            <a:pPr indent="0" marL="0">
              <a:buNone/>
            </a:pPr>
            <a:r>
              <a:rPr lang="en-US" sz="1100" dirty="0">
                <a:solidFill>
                  <a:srgbClr val="CCCCCC"/>
                </a:solidFill>
                <a:latin typeface="Calibri" pitchFamily="34" charset="0"/>
                <a:ea typeface="Calibri" pitchFamily="34" charset="-122"/>
                <a:cs typeface="Calibri" pitchFamily="34" charset="-120"/>
              </a:rPr>
              <a:t>[HOST_2_BIO_AGENT]</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turing.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60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502920"/>
            <a:ext cx="9326880" cy="320040"/>
          </a:xfrm>
          <a:prstGeom prst="rect">
            <a:avLst/>
          </a:prstGeom>
          <a:noFill/>
          <a:ln/>
        </p:spPr>
        <p:txBody>
          <a:bodyPr wrap="square" lIns="0" tIns="0" rIns="0" bIns="0" rtlCol="0" anchor="ctr"/>
          <a:lstStyle/>
          <a:p>
            <a:pPr indent="0" marL="0">
              <a:buNone/>
            </a:pPr>
            <a:r>
              <a:rPr lang="en-US" sz="1100" b="1" spc="100" kern="0" dirty="0">
                <a:solidFill>
                  <a:srgbClr val="CFFF00"/>
                </a:solidFill>
                <a:latin typeface="Courier New" pitchFamily="34" charset="0"/>
                <a:ea typeface="Courier New" pitchFamily="34" charset="-122"/>
                <a:cs typeface="Courier New" pitchFamily="34" charset="-120"/>
              </a:rPr>
              <a:t>FIELD SOBRIETY TEST</a:t>
            </a:r>
            <a:endParaRPr lang="en-US" sz="1100" dirty="0"/>
          </a:p>
        </p:txBody>
      </p:sp>
      <p:sp>
        <p:nvSpPr>
          <p:cNvPr id="9" name="Text 5"/>
          <p:cNvSpPr txBox="1"/>
          <p:nvPr/>
        </p:nvSpPr>
        <p:spPr>
          <a:xfrm>
            <a:off x="694944" y="1005840"/>
            <a:ext cx="9601200" cy="128016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The Turing Test</a:t>
            </a:r>
            <a:endParaRPr lang="en-US" sz="4000" dirty="0"/>
          </a:p>
        </p:txBody>
      </p:sp>
      <p:sp>
        <p:nvSpPr>
          <p:cNvPr id="10" name="Text 6"/>
          <p:cNvSpPr txBox="1"/>
          <p:nvPr/>
        </p:nvSpPr>
        <p:spPr>
          <a:xfrm>
            <a:off x="694944" y="2377440"/>
            <a:ext cx="9601200" cy="640080"/>
          </a:xfrm>
          <a:prstGeom prst="rect">
            <a:avLst/>
          </a:prstGeom>
          <a:noFill/>
          <a:ln/>
        </p:spPr>
        <p:txBody>
          <a:bodyPr wrap="square" lIns="0" tIns="0" rIns="0" bIns="0" rtlCol="0" anchor="t"/>
          <a:lstStyle/>
          <a:p>
            <a:pPr indent="0" marL="0">
              <a:buNone/>
            </a:pPr>
            <a:r>
              <a:rPr lang="en-US" sz="2200" i="1" dirty="0">
                <a:solidFill>
                  <a:srgbClr val="CFFF00"/>
                </a:solidFill>
                <a:latin typeface="Georgia" pitchFamily="34" charset="0"/>
                <a:ea typeface="Georgia" pitchFamily="34" charset="-122"/>
                <a:cs typeface="Georgia" pitchFamily="34" charset="-120"/>
              </a:rPr>
              <a:t>Can you tell human from machine?</a:t>
            </a:r>
            <a:endParaRPr lang="en-US" sz="2200" dirty="0"/>
          </a:p>
        </p:txBody>
      </p:sp>
      <p:sp>
        <p:nvSpPr>
          <p:cNvPr id="11" name="Text 7"/>
          <p:cNvSpPr txBox="1"/>
          <p:nvPr/>
        </p:nvSpPr>
        <p:spPr>
          <a:xfrm>
            <a:off x="694944" y="3063240"/>
            <a:ext cx="9601200" cy="73152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We're running four rounds. Text → Photo → Song → Voice (hardest last).</a:t>
            </a:r>
            <a:endParaRPr lang="en-US" sz="1600" dirty="0"/>
          </a:p>
        </p:txBody>
      </p:sp>
      <p:sp>
        <p:nvSpPr>
          <p:cNvPr id="12" name="Text 8"/>
          <p:cNvSpPr txBox="1"/>
          <p:nvPr/>
        </p:nvSpPr>
        <p:spPr>
          <a:xfrm>
            <a:off x="694944" y="4114800"/>
            <a:ext cx="10515600" cy="914400"/>
          </a:xfrm>
          <a:prstGeom prst="rect">
            <a:avLst/>
          </a:prstGeom>
          <a:noFill/>
          <a:ln/>
        </p:spPr>
        <p:txBody>
          <a:bodyPr wrap="square" lIns="0" tIns="0" rIns="0" bIns="0" rtlCol="0" anchor="ctr"/>
          <a:lstStyle/>
          <a:p>
            <a:pPr algn="ctr" indent="0" marL="0">
              <a:buNone/>
            </a:pPr>
            <a:r>
              <a:rPr lang="en-US" sz="2800" b="1" dirty="0">
                <a:solidFill>
                  <a:srgbClr val="CFFF00"/>
                </a:solidFill>
                <a:latin typeface="Arial" pitchFamily="34" charset="0"/>
                <a:ea typeface="Arial" pitchFamily="34" charset="-122"/>
                <a:cs typeface="Arial" pitchFamily="34" charset="-120"/>
              </a:rPr>
              <a:t>Type A or B in chat — on 3.</a:t>
            </a:r>
            <a:endParaRPr lang="en-US" sz="2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divider.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40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457200"/>
            <a:ext cx="9326880" cy="64008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The Rounds</a:t>
            </a:r>
            <a:endParaRPr lang="en-US" sz="3600" dirty="0"/>
          </a:p>
        </p:txBody>
      </p:sp>
      <p:sp>
        <p:nvSpPr>
          <p:cNvPr id="9" name="Shape 5"/>
          <p:cNvSpPr/>
          <p:nvPr/>
        </p:nvSpPr>
        <p:spPr>
          <a:xfrm>
            <a:off x="694944" y="1371600"/>
            <a:ext cx="5303520" cy="2377440"/>
          </a:xfrm>
          <a:prstGeom prst="rect">
            <a:avLst/>
          </a:prstGeom>
          <a:solidFill>
            <a:srgbClr val="0B1F44">
              <a:alpha val="75000"/>
            </a:srgbClr>
          </a:solidFill>
          <a:ln w="9525">
            <a:solidFill>
              <a:srgbClr val="00D4D8">
                <a:alpha val="40000"/>
              </a:srgbClr>
            </a:solidFill>
            <a:prstDash val="solid"/>
          </a:ln>
        </p:spPr>
      </p:sp>
      <p:sp>
        <p:nvSpPr>
          <p:cNvPr id="10" name="Text 6"/>
          <p:cNvSpPr txBox="1"/>
          <p:nvPr/>
        </p:nvSpPr>
        <p:spPr>
          <a:xfrm>
            <a:off x="969264" y="1444752"/>
            <a:ext cx="4754880" cy="502920"/>
          </a:xfrm>
          <a:prstGeom prst="rect">
            <a:avLst/>
          </a:prstGeom>
          <a:noFill/>
          <a:ln/>
        </p:spPr>
        <p:txBody>
          <a:bodyPr wrap="square" lIns="0" tIns="0" rIns="0" bIns="0" rtlCol="0" anchor="ctr"/>
          <a:lstStyle/>
          <a:p>
            <a:pPr algn="ctr" indent="0" marL="0">
              <a:buNone/>
            </a:pPr>
            <a:r>
              <a:rPr lang="en-US" sz="2800" dirty="0">
                <a:solidFill>
                  <a:srgbClr val="000000"/>
                </a:solidFill>
                <a:latin typeface="Calibri" pitchFamily="34" charset="0"/>
                <a:ea typeface="Calibri" pitchFamily="34" charset="-122"/>
                <a:cs typeface="Calibri" pitchFamily="34" charset="-120"/>
              </a:rPr>
              <a:t>📄</a:t>
            </a:r>
            <a:endParaRPr lang="en-US" sz="2800" dirty="0"/>
          </a:p>
        </p:txBody>
      </p:sp>
      <p:sp>
        <p:nvSpPr>
          <p:cNvPr id="11" name="Text 7"/>
          <p:cNvSpPr txBox="1"/>
          <p:nvPr/>
        </p:nvSpPr>
        <p:spPr>
          <a:xfrm>
            <a:off x="969264" y="1965960"/>
            <a:ext cx="4754880" cy="292608"/>
          </a:xfrm>
          <a:prstGeom prst="rect">
            <a:avLst/>
          </a:prstGeom>
          <a:noFill/>
          <a:ln/>
        </p:spPr>
        <p:txBody>
          <a:bodyPr wrap="square" lIns="0" tIns="0" rIns="0" bIns="0" rtlCol="0" anchor="ctr"/>
          <a:lstStyle/>
          <a:p>
            <a:pPr algn="ctr" indent="0" marL="0">
              <a:buNone/>
            </a:pPr>
            <a:r>
              <a:rPr lang="en-US" sz="1000" b="1" spc="100" kern="0" dirty="0">
                <a:solidFill>
                  <a:srgbClr val="00D4D8"/>
                </a:solidFill>
                <a:latin typeface="Courier New" pitchFamily="34" charset="0"/>
                <a:ea typeface="Courier New" pitchFamily="34" charset="-122"/>
                <a:cs typeface="Courier New" pitchFamily="34" charset="-120"/>
              </a:rPr>
              <a:t>Round 1: TEXT</a:t>
            </a:r>
            <a:endParaRPr lang="en-US" sz="1000" dirty="0"/>
          </a:p>
        </p:txBody>
      </p:sp>
      <p:sp>
        <p:nvSpPr>
          <p:cNvPr id="12" name="Text 8"/>
          <p:cNvSpPr txBox="1"/>
          <p:nvPr/>
        </p:nvSpPr>
        <p:spPr>
          <a:xfrm>
            <a:off x="969264" y="2304288"/>
            <a:ext cx="4754880" cy="6583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Which bio was written by a human?</a:t>
            </a:r>
            <a:endParaRPr lang="en-US" sz="1400" dirty="0"/>
          </a:p>
        </p:txBody>
      </p:sp>
      <p:sp>
        <p:nvSpPr>
          <p:cNvPr id="13" name="Text 9"/>
          <p:cNvSpPr txBox="1"/>
          <p:nvPr/>
        </p:nvSpPr>
        <p:spPr>
          <a:xfrm>
            <a:off x="1014984" y="3035808"/>
            <a:ext cx="4663440" cy="594360"/>
          </a:xfrm>
          <a:prstGeom prst="rect">
            <a:avLst/>
          </a:prstGeom>
          <a:noFill/>
          <a:ln/>
        </p:spPr>
        <p:txBody>
          <a:bodyPr wrap="square" lIns="0" tIns="0" rIns="0" bIns="0" rtlCol="0" anchor="t"/>
          <a:lstStyle/>
          <a:p>
            <a:pPr algn="ctr" indent="0" marL="0">
              <a:buNone/>
            </a:pPr>
            <a:r>
              <a:rPr lang="en-US" sz="900" dirty="0">
                <a:solidFill>
                  <a:srgbClr val="A9A29A"/>
                </a:solidFill>
                <a:latin typeface="Calibri" pitchFamily="34" charset="0"/>
                <a:ea typeface="Calibri" pitchFamily="34" charset="-122"/>
                <a:cs typeface="Calibri" pitchFamily="34" charset="-120"/>
              </a:rPr>
              <a:t>Both profiles are on screen. Read them. Drop A or B in chat — on 3.</a:t>
            </a:r>
            <a:endParaRPr lang="en-US" sz="900" dirty="0"/>
          </a:p>
        </p:txBody>
      </p:sp>
      <p:sp>
        <p:nvSpPr>
          <p:cNvPr id="14" name="Shape 10"/>
          <p:cNvSpPr/>
          <p:nvPr/>
        </p:nvSpPr>
        <p:spPr>
          <a:xfrm>
            <a:off x="6400800" y="1371600"/>
            <a:ext cx="5303520" cy="2377440"/>
          </a:xfrm>
          <a:prstGeom prst="rect">
            <a:avLst/>
          </a:prstGeom>
          <a:solidFill>
            <a:srgbClr val="0B1F44">
              <a:alpha val="75000"/>
            </a:srgbClr>
          </a:solidFill>
          <a:ln w="9525">
            <a:solidFill>
              <a:srgbClr val="00D4D8">
                <a:alpha val="40000"/>
              </a:srgbClr>
            </a:solidFill>
            <a:prstDash val="solid"/>
          </a:ln>
        </p:spPr>
      </p:sp>
      <p:sp>
        <p:nvSpPr>
          <p:cNvPr id="15" name="Text 11"/>
          <p:cNvSpPr txBox="1"/>
          <p:nvPr/>
        </p:nvSpPr>
        <p:spPr>
          <a:xfrm>
            <a:off x="6675120" y="1444752"/>
            <a:ext cx="4754880" cy="502920"/>
          </a:xfrm>
          <a:prstGeom prst="rect">
            <a:avLst/>
          </a:prstGeom>
          <a:noFill/>
          <a:ln/>
        </p:spPr>
        <p:txBody>
          <a:bodyPr wrap="square" lIns="0" tIns="0" rIns="0" bIns="0" rtlCol="0" anchor="ctr"/>
          <a:lstStyle/>
          <a:p>
            <a:pPr algn="ctr" indent="0" marL="0">
              <a:buNone/>
            </a:pPr>
            <a:r>
              <a:rPr lang="en-US" sz="2800" dirty="0">
                <a:solidFill>
                  <a:srgbClr val="000000"/>
                </a:solidFill>
                <a:latin typeface="Calibri" pitchFamily="34" charset="0"/>
                <a:ea typeface="Calibri" pitchFamily="34" charset="-122"/>
                <a:cs typeface="Calibri" pitchFamily="34" charset="-120"/>
              </a:rPr>
              <a:t>📷</a:t>
            </a:r>
            <a:endParaRPr lang="en-US" sz="2800" dirty="0"/>
          </a:p>
        </p:txBody>
      </p:sp>
      <p:sp>
        <p:nvSpPr>
          <p:cNvPr id="16" name="Text 12"/>
          <p:cNvSpPr txBox="1"/>
          <p:nvPr/>
        </p:nvSpPr>
        <p:spPr>
          <a:xfrm>
            <a:off x="6675120" y="1965960"/>
            <a:ext cx="4754880" cy="292608"/>
          </a:xfrm>
          <a:prstGeom prst="rect">
            <a:avLst/>
          </a:prstGeom>
          <a:noFill/>
          <a:ln/>
        </p:spPr>
        <p:txBody>
          <a:bodyPr wrap="square" lIns="0" tIns="0" rIns="0" bIns="0" rtlCol="0" anchor="ctr"/>
          <a:lstStyle/>
          <a:p>
            <a:pPr algn="ctr" indent="0" marL="0">
              <a:buNone/>
            </a:pPr>
            <a:r>
              <a:rPr lang="en-US" sz="1000" b="1" spc="100" kern="0" dirty="0">
                <a:solidFill>
                  <a:srgbClr val="00D4D8"/>
                </a:solidFill>
                <a:latin typeface="Courier New" pitchFamily="34" charset="0"/>
                <a:ea typeface="Courier New" pitchFamily="34" charset="-122"/>
                <a:cs typeface="Courier New" pitchFamily="34" charset="-120"/>
              </a:rPr>
              <a:t>Round 2: PHOTO</a:t>
            </a:r>
            <a:endParaRPr lang="en-US" sz="1000" dirty="0"/>
          </a:p>
        </p:txBody>
      </p:sp>
      <p:sp>
        <p:nvSpPr>
          <p:cNvPr id="17" name="Text 13"/>
          <p:cNvSpPr txBox="1"/>
          <p:nvPr/>
        </p:nvSpPr>
        <p:spPr>
          <a:xfrm>
            <a:off x="6675120" y="2304288"/>
            <a:ext cx="4754880" cy="6583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Real team photo or AI-generated?</a:t>
            </a:r>
            <a:endParaRPr lang="en-US" sz="1400" dirty="0"/>
          </a:p>
        </p:txBody>
      </p:sp>
      <p:sp>
        <p:nvSpPr>
          <p:cNvPr id="18" name="Text 14"/>
          <p:cNvSpPr txBox="1"/>
          <p:nvPr/>
        </p:nvSpPr>
        <p:spPr>
          <a:xfrm>
            <a:off x="6720840" y="3035808"/>
            <a:ext cx="4663440" cy="594360"/>
          </a:xfrm>
          <a:prstGeom prst="rect">
            <a:avLst/>
          </a:prstGeom>
          <a:noFill/>
          <a:ln/>
        </p:spPr>
        <p:txBody>
          <a:bodyPr wrap="square" lIns="0" tIns="0" rIns="0" bIns="0" rtlCol="0" anchor="t"/>
          <a:lstStyle/>
          <a:p>
            <a:pPr algn="ctr" indent="0" marL="0">
              <a:buNone/>
            </a:pPr>
            <a:r>
              <a:rPr lang="en-US" sz="900" dirty="0">
                <a:solidFill>
                  <a:srgbClr val="A9A29A"/>
                </a:solidFill>
                <a:latin typeface="Calibri" pitchFamily="34" charset="0"/>
                <a:ea typeface="Calibri" pitchFamily="34" charset="-122"/>
                <a:cs typeface="Calibri" pitchFamily="34" charset="-120"/>
              </a:rPr>
              <a:t>Show both images side by side. Vote A or B on 3.</a:t>
            </a:r>
            <a:endParaRPr lang="en-US" sz="900" dirty="0"/>
          </a:p>
        </p:txBody>
      </p:sp>
      <p:sp>
        <p:nvSpPr>
          <p:cNvPr id="19" name="Shape 15"/>
          <p:cNvSpPr/>
          <p:nvPr/>
        </p:nvSpPr>
        <p:spPr>
          <a:xfrm>
            <a:off x="694944" y="3931920"/>
            <a:ext cx="5303520" cy="2377440"/>
          </a:xfrm>
          <a:prstGeom prst="rect">
            <a:avLst/>
          </a:prstGeom>
          <a:solidFill>
            <a:srgbClr val="0B1F44">
              <a:alpha val="75000"/>
            </a:srgbClr>
          </a:solidFill>
          <a:ln w="9525">
            <a:solidFill>
              <a:srgbClr val="00D4D8">
                <a:alpha val="40000"/>
              </a:srgbClr>
            </a:solidFill>
            <a:prstDash val="solid"/>
          </a:ln>
        </p:spPr>
      </p:sp>
      <p:sp>
        <p:nvSpPr>
          <p:cNvPr id="20" name="Text 16"/>
          <p:cNvSpPr txBox="1"/>
          <p:nvPr/>
        </p:nvSpPr>
        <p:spPr>
          <a:xfrm>
            <a:off x="969264" y="4005072"/>
            <a:ext cx="4754880" cy="502920"/>
          </a:xfrm>
          <a:prstGeom prst="rect">
            <a:avLst/>
          </a:prstGeom>
          <a:noFill/>
          <a:ln/>
        </p:spPr>
        <p:txBody>
          <a:bodyPr wrap="square" lIns="0" tIns="0" rIns="0" bIns="0" rtlCol="0" anchor="ctr"/>
          <a:lstStyle/>
          <a:p>
            <a:pPr algn="ctr" indent="0" marL="0">
              <a:buNone/>
            </a:pPr>
            <a:r>
              <a:rPr lang="en-US" sz="2800" dirty="0">
                <a:solidFill>
                  <a:srgbClr val="000000"/>
                </a:solidFill>
                <a:latin typeface="Calibri" pitchFamily="34" charset="0"/>
                <a:ea typeface="Calibri" pitchFamily="34" charset="-122"/>
                <a:cs typeface="Calibri" pitchFamily="34" charset="-120"/>
              </a:rPr>
              <a:t>🎵</a:t>
            </a:r>
            <a:endParaRPr lang="en-US" sz="2800" dirty="0"/>
          </a:p>
        </p:txBody>
      </p:sp>
      <p:sp>
        <p:nvSpPr>
          <p:cNvPr id="21" name="Text 17"/>
          <p:cNvSpPr txBox="1"/>
          <p:nvPr/>
        </p:nvSpPr>
        <p:spPr>
          <a:xfrm>
            <a:off x="969264" y="4526280"/>
            <a:ext cx="4754880" cy="292608"/>
          </a:xfrm>
          <a:prstGeom prst="rect">
            <a:avLst/>
          </a:prstGeom>
          <a:noFill/>
          <a:ln/>
        </p:spPr>
        <p:txBody>
          <a:bodyPr wrap="square" lIns="0" tIns="0" rIns="0" bIns="0" rtlCol="0" anchor="ctr"/>
          <a:lstStyle/>
          <a:p>
            <a:pPr algn="ctr" indent="0" marL="0">
              <a:buNone/>
            </a:pPr>
            <a:r>
              <a:rPr lang="en-US" sz="1000" b="1" spc="100" kern="0" dirty="0">
                <a:solidFill>
                  <a:srgbClr val="00D4D8"/>
                </a:solidFill>
                <a:latin typeface="Courier New" pitchFamily="34" charset="0"/>
                <a:ea typeface="Courier New" pitchFamily="34" charset="-122"/>
                <a:cs typeface="Courier New" pitchFamily="34" charset="-120"/>
              </a:rPr>
              <a:t>Round 3: SONG</a:t>
            </a:r>
            <a:endParaRPr lang="en-US" sz="1000" dirty="0"/>
          </a:p>
        </p:txBody>
      </p:sp>
      <p:sp>
        <p:nvSpPr>
          <p:cNvPr id="22" name="Text 18"/>
          <p:cNvSpPr txBox="1"/>
          <p:nvPr/>
        </p:nvSpPr>
        <p:spPr>
          <a:xfrm>
            <a:off x="969264" y="4864608"/>
            <a:ext cx="4754880" cy="6583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Human-made or Suno AI?</a:t>
            </a:r>
            <a:endParaRPr lang="en-US" sz="1400" dirty="0"/>
          </a:p>
        </p:txBody>
      </p:sp>
      <p:sp>
        <p:nvSpPr>
          <p:cNvPr id="23" name="Text 19"/>
          <p:cNvSpPr txBox="1"/>
          <p:nvPr/>
        </p:nvSpPr>
        <p:spPr>
          <a:xfrm>
            <a:off x="1014984" y="5596128"/>
            <a:ext cx="4663440" cy="594360"/>
          </a:xfrm>
          <a:prstGeom prst="rect">
            <a:avLst/>
          </a:prstGeom>
          <a:noFill/>
          <a:ln/>
        </p:spPr>
        <p:txBody>
          <a:bodyPr wrap="square" lIns="0" tIns="0" rIns="0" bIns="0" rtlCol="0" anchor="t"/>
          <a:lstStyle/>
          <a:p>
            <a:pPr algn="ctr" indent="0" marL="0">
              <a:buNone/>
            </a:pPr>
            <a:r>
              <a:rPr lang="en-US" sz="900" dirty="0">
                <a:solidFill>
                  <a:srgbClr val="A9A29A"/>
                </a:solidFill>
                <a:latin typeface="Calibri" pitchFamily="34" charset="0"/>
                <a:ea typeface="Calibri" pitchFamily="34" charset="-122"/>
                <a:cs typeface="Calibri" pitchFamily="34" charset="-120"/>
              </a:rPr>
              <a:t>Play both clips back-to-back (⚠️ tick Include computer sound!). Vote A or B on 3.</a:t>
            </a:r>
            <a:endParaRPr lang="en-US" sz="900" dirty="0"/>
          </a:p>
        </p:txBody>
      </p:sp>
      <p:sp>
        <p:nvSpPr>
          <p:cNvPr id="24" name="Shape 20"/>
          <p:cNvSpPr/>
          <p:nvPr/>
        </p:nvSpPr>
        <p:spPr>
          <a:xfrm>
            <a:off x="6400800" y="3931920"/>
            <a:ext cx="5303520" cy="2377440"/>
          </a:xfrm>
          <a:prstGeom prst="rect">
            <a:avLst/>
          </a:prstGeom>
          <a:solidFill>
            <a:srgbClr val="0B1F44">
              <a:alpha val="75000"/>
            </a:srgbClr>
          </a:solidFill>
          <a:ln w="9525">
            <a:solidFill>
              <a:srgbClr val="00D4D8">
                <a:alpha val="40000"/>
              </a:srgbClr>
            </a:solidFill>
            <a:prstDash val="solid"/>
          </a:ln>
        </p:spPr>
      </p:sp>
      <p:sp>
        <p:nvSpPr>
          <p:cNvPr id="25" name="Text 21"/>
          <p:cNvSpPr txBox="1"/>
          <p:nvPr/>
        </p:nvSpPr>
        <p:spPr>
          <a:xfrm>
            <a:off x="6675120" y="4005072"/>
            <a:ext cx="4754880" cy="502920"/>
          </a:xfrm>
          <a:prstGeom prst="rect">
            <a:avLst/>
          </a:prstGeom>
          <a:noFill/>
          <a:ln/>
        </p:spPr>
        <p:txBody>
          <a:bodyPr wrap="square" lIns="0" tIns="0" rIns="0" bIns="0" rtlCol="0" anchor="ctr"/>
          <a:lstStyle/>
          <a:p>
            <a:pPr algn="ctr" indent="0" marL="0">
              <a:buNone/>
            </a:pPr>
            <a:r>
              <a:rPr lang="en-US" sz="2800" dirty="0">
                <a:solidFill>
                  <a:srgbClr val="000000"/>
                </a:solidFill>
                <a:latin typeface="Calibri" pitchFamily="34" charset="0"/>
                <a:ea typeface="Calibri" pitchFamily="34" charset="-122"/>
                <a:cs typeface="Calibri" pitchFamily="34" charset="-120"/>
              </a:rPr>
              <a:t>🎤</a:t>
            </a:r>
            <a:endParaRPr lang="en-US" sz="2800" dirty="0"/>
          </a:p>
        </p:txBody>
      </p:sp>
      <p:sp>
        <p:nvSpPr>
          <p:cNvPr id="26" name="Text 22"/>
          <p:cNvSpPr txBox="1"/>
          <p:nvPr/>
        </p:nvSpPr>
        <p:spPr>
          <a:xfrm>
            <a:off x="6675120" y="4526280"/>
            <a:ext cx="4754880" cy="292608"/>
          </a:xfrm>
          <a:prstGeom prst="rect">
            <a:avLst/>
          </a:prstGeom>
          <a:noFill/>
          <a:ln/>
        </p:spPr>
        <p:txBody>
          <a:bodyPr wrap="square" lIns="0" tIns="0" rIns="0" bIns="0" rtlCol="0" anchor="ctr"/>
          <a:lstStyle/>
          <a:p>
            <a:pPr algn="ctr" indent="0" marL="0">
              <a:buNone/>
            </a:pPr>
            <a:r>
              <a:rPr lang="en-US" sz="1000" b="1" spc="100" kern="0" dirty="0">
                <a:solidFill>
                  <a:srgbClr val="00D4D8"/>
                </a:solidFill>
                <a:latin typeface="Courier New" pitchFamily="34" charset="0"/>
                <a:ea typeface="Courier New" pitchFamily="34" charset="-122"/>
                <a:cs typeface="Courier New" pitchFamily="34" charset="-120"/>
              </a:rPr>
              <a:t>Round 4: VOICE</a:t>
            </a:r>
            <a:endParaRPr lang="en-US" sz="1000" dirty="0"/>
          </a:p>
        </p:txBody>
      </p:sp>
      <p:sp>
        <p:nvSpPr>
          <p:cNvPr id="27" name="Text 23"/>
          <p:cNvSpPr txBox="1"/>
          <p:nvPr/>
        </p:nvSpPr>
        <p:spPr>
          <a:xfrm>
            <a:off x="6675120" y="4864608"/>
            <a:ext cx="4754880" cy="6583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Real voice or ElevenLabs clone?</a:t>
            </a:r>
            <a:endParaRPr lang="en-US" sz="1400" dirty="0"/>
          </a:p>
        </p:txBody>
      </p:sp>
      <p:sp>
        <p:nvSpPr>
          <p:cNvPr id="28" name="Text 24"/>
          <p:cNvSpPr txBox="1"/>
          <p:nvPr/>
        </p:nvSpPr>
        <p:spPr>
          <a:xfrm>
            <a:off x="6720840" y="5596128"/>
            <a:ext cx="4663440" cy="594360"/>
          </a:xfrm>
          <a:prstGeom prst="rect">
            <a:avLst/>
          </a:prstGeom>
          <a:noFill/>
          <a:ln/>
        </p:spPr>
        <p:txBody>
          <a:bodyPr wrap="square" lIns="0" tIns="0" rIns="0" bIns="0" rtlCol="0" anchor="t"/>
          <a:lstStyle/>
          <a:p>
            <a:pPr algn="ctr" indent="0" marL="0">
              <a:buNone/>
            </a:pPr>
            <a:r>
              <a:rPr lang="en-US" sz="900" dirty="0">
                <a:solidFill>
                  <a:srgbClr val="A9A29A"/>
                </a:solidFill>
                <a:latin typeface="Calibri" pitchFamily="34" charset="0"/>
                <a:ea typeface="Calibri" pitchFamily="34" charset="-122"/>
                <a:cs typeface="Calibri" pitchFamily="34" charset="-120"/>
              </a:rPr>
              <a:t>Play both recordings. Vote A or B on 3. No pressure — this one fools everyone.</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turing.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38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530352"/>
            <a:ext cx="10515600" cy="292608"/>
          </a:xfrm>
          <a:prstGeom prst="rect">
            <a:avLst/>
          </a:prstGeom>
          <a:noFill/>
          <a:ln/>
        </p:spPr>
        <p:txBody>
          <a:bodyPr wrap="square" lIns="0" tIns="0" rIns="0" bIns="0" rtlCol="0" anchor="ctr"/>
          <a:lstStyle/>
          <a:p>
            <a:pPr algn="ctr" indent="0" marL="0">
              <a:buNone/>
            </a:pPr>
            <a:r>
              <a:rPr lang="en-US" sz="1000" b="1" spc="300" kern="0" dirty="0">
                <a:solidFill>
                  <a:srgbClr val="00D4D8"/>
                </a:solidFill>
                <a:latin typeface="Courier New" pitchFamily="34" charset="0"/>
                <a:ea typeface="Courier New" pitchFamily="34" charset="-122"/>
                <a:cs typeface="Courier New" pitchFamily="34" charset="-120"/>
              </a:rPr>
              <a:t>ROUND 1 OF 4</a:t>
            </a:r>
            <a:endParaRPr lang="en-US" sz="1000" dirty="0"/>
          </a:p>
        </p:txBody>
      </p:sp>
      <p:sp>
        <p:nvSpPr>
          <p:cNvPr id="9" name="Text 5"/>
          <p:cNvSpPr txBox="1"/>
          <p:nvPr/>
        </p:nvSpPr>
        <p:spPr>
          <a:xfrm>
            <a:off x="694944" y="1005840"/>
            <a:ext cx="10515600" cy="777240"/>
          </a:xfrm>
          <a:prstGeom prst="rect">
            <a:avLst/>
          </a:prstGeom>
          <a:noFill/>
          <a:ln/>
        </p:spPr>
        <p:txBody>
          <a:bodyPr wrap="square" lIns="0" tIns="0" rIns="0" bIns="0" rtlCol="0" anchor="ctr"/>
          <a:lstStyle/>
          <a:p>
            <a:pPr algn="ctr" indent="0" marL="0">
              <a:buNone/>
            </a:pPr>
            <a:r>
              <a:rPr lang="en-US" sz="5200" dirty="0">
                <a:solidFill>
                  <a:srgbClr val="000000"/>
                </a:solidFill>
                <a:latin typeface="Calibri" pitchFamily="34" charset="0"/>
                <a:ea typeface="Calibri" pitchFamily="34" charset="-122"/>
                <a:cs typeface="Calibri" pitchFamily="34" charset="-120"/>
              </a:rPr>
              <a:t>📄</a:t>
            </a:r>
            <a:endParaRPr lang="en-US" sz="5200" dirty="0"/>
          </a:p>
        </p:txBody>
      </p:sp>
      <p:sp>
        <p:nvSpPr>
          <p:cNvPr id="10" name="Text 6"/>
          <p:cNvSpPr txBox="1"/>
          <p:nvPr/>
        </p:nvSpPr>
        <p:spPr>
          <a:xfrm>
            <a:off x="694944" y="1874520"/>
            <a:ext cx="10515600" cy="347472"/>
          </a:xfrm>
          <a:prstGeom prst="rect">
            <a:avLst/>
          </a:prstGeom>
          <a:noFill/>
          <a:ln/>
        </p:spPr>
        <p:txBody>
          <a:bodyPr wrap="square" lIns="0" tIns="0" rIns="0" bIns="0" rtlCol="0" anchor="ctr"/>
          <a:lstStyle/>
          <a:p>
            <a:pPr algn="ctr" indent="0" marL="0">
              <a:buNone/>
            </a:pPr>
            <a:r>
              <a:rPr lang="en-US" sz="1400" b="1" spc="400" kern="0" dirty="0">
                <a:solidFill>
                  <a:srgbClr val="CFFF00"/>
                </a:solidFill>
                <a:latin typeface="Courier New" pitchFamily="34" charset="0"/>
                <a:ea typeface="Courier New" pitchFamily="34" charset="-122"/>
                <a:cs typeface="Courier New" pitchFamily="34" charset="-120"/>
              </a:rPr>
              <a:t>TEXT</a:t>
            </a:r>
            <a:endParaRPr lang="en-US" sz="1400" dirty="0"/>
          </a:p>
        </p:txBody>
      </p:sp>
      <p:sp>
        <p:nvSpPr>
          <p:cNvPr id="11" name="Text 7"/>
          <p:cNvSpPr txBox="1"/>
          <p:nvPr/>
        </p:nvSpPr>
        <p:spPr>
          <a:xfrm>
            <a:off x="1371600" y="2331720"/>
            <a:ext cx="9144000" cy="12344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Which bio was written by a human?</a:t>
            </a:r>
            <a:endParaRPr lang="en-US" sz="3000" dirty="0"/>
          </a:p>
        </p:txBody>
      </p:sp>
      <p:sp>
        <p:nvSpPr>
          <p:cNvPr id="12" name="Shape 8"/>
          <p:cNvSpPr/>
          <p:nvPr/>
        </p:nvSpPr>
        <p:spPr>
          <a:xfrm>
            <a:off x="2286000" y="3657600"/>
            <a:ext cx="7315200" cy="0"/>
          </a:xfrm>
          <a:prstGeom prst="line">
            <a:avLst/>
          </a:prstGeom>
          <a:noFill/>
          <a:ln w="12700">
            <a:solidFill>
              <a:srgbClr val="334466"/>
            </a:solidFill>
            <a:prstDash val="solid"/>
          </a:ln>
        </p:spPr>
      </p:sp>
      <p:sp>
        <p:nvSpPr>
          <p:cNvPr id="13" name="Text 9"/>
          <p:cNvSpPr txBox="1"/>
          <p:nvPr/>
        </p:nvSpPr>
        <p:spPr>
          <a:xfrm>
            <a:off x="914400" y="3794760"/>
            <a:ext cx="10058400" cy="960120"/>
          </a:xfrm>
          <a:prstGeom prst="rect">
            <a:avLst/>
          </a:prstGeom>
          <a:noFill/>
          <a:ln/>
        </p:spPr>
        <p:txBody>
          <a:bodyPr wrap="square" lIns="0" tIns="0" rIns="0" bIns="0" rtlCol="0" anchor="ctr"/>
          <a:lstStyle/>
          <a:p>
            <a:pPr algn="ctr" indent="0" marL="0">
              <a:buNone/>
            </a:pPr>
            <a:r>
              <a:rPr lang="en-US" sz="1300" dirty="0">
                <a:solidFill>
                  <a:srgbClr val="A9A29A"/>
                </a:solidFill>
                <a:latin typeface="Calibri" pitchFamily="34" charset="0"/>
                <a:ea typeface="Calibri" pitchFamily="34" charset="-122"/>
                <a:cs typeface="Calibri" pitchFamily="34" charset="-120"/>
              </a:rPr>
              <a:t>Both profiles are on the previous slides. Read them. Drop A or B in chat — on 3.</a:t>
            </a:r>
            <a:endParaRPr lang="en-US" sz="1300" dirty="0"/>
          </a:p>
        </p:txBody>
      </p:sp>
      <p:sp>
        <p:nvSpPr>
          <p:cNvPr id="14" name="Text 10"/>
          <p:cNvSpPr txBox="1"/>
          <p:nvPr/>
        </p:nvSpPr>
        <p:spPr>
          <a:xfrm>
            <a:off x="694944" y="4892040"/>
            <a:ext cx="10515600" cy="365760"/>
          </a:xfrm>
          <a:prstGeom prst="rect">
            <a:avLst/>
          </a:prstGeom>
          <a:noFill/>
          <a:ln/>
        </p:spPr>
        <p:txBody>
          <a:bodyPr wrap="square" lIns="0" tIns="0" rIns="0" bIns="0" rtlCol="0" anchor="ctr"/>
          <a:lstStyle/>
          <a:p>
            <a:pPr algn="ctr" indent="0" marL="0">
              <a:buNone/>
            </a:pPr>
            <a:r>
              <a:rPr lang="en-US" sz="1100" b="1" spc="200" kern="0" dirty="0">
                <a:solidFill>
                  <a:srgbClr val="CFFF00"/>
                </a:solidFill>
                <a:latin typeface="Courier New" pitchFamily="34" charset="0"/>
                <a:ea typeface="Courier New" pitchFamily="34" charset="-122"/>
                <a:cs typeface="Courier New" pitchFamily="34" charset="-120"/>
              </a:rPr>
              <a:t>↓  VOTE NOW  ↓</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turing.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38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530352"/>
            <a:ext cx="10515600" cy="292608"/>
          </a:xfrm>
          <a:prstGeom prst="rect">
            <a:avLst/>
          </a:prstGeom>
          <a:noFill/>
          <a:ln/>
        </p:spPr>
        <p:txBody>
          <a:bodyPr wrap="square" lIns="0" tIns="0" rIns="0" bIns="0" rtlCol="0" anchor="ctr"/>
          <a:lstStyle/>
          <a:p>
            <a:pPr algn="ctr" indent="0" marL="0">
              <a:buNone/>
            </a:pPr>
            <a:r>
              <a:rPr lang="en-US" sz="1000" b="1" spc="300" kern="0" dirty="0">
                <a:solidFill>
                  <a:srgbClr val="00D4D8"/>
                </a:solidFill>
                <a:latin typeface="Courier New" pitchFamily="34" charset="0"/>
                <a:ea typeface="Courier New" pitchFamily="34" charset="-122"/>
                <a:cs typeface="Courier New" pitchFamily="34" charset="-120"/>
              </a:rPr>
              <a:t>ROUND 2 OF 4</a:t>
            </a:r>
            <a:endParaRPr lang="en-US" sz="1000" dirty="0"/>
          </a:p>
        </p:txBody>
      </p:sp>
      <p:sp>
        <p:nvSpPr>
          <p:cNvPr id="9" name="Text 5"/>
          <p:cNvSpPr txBox="1"/>
          <p:nvPr/>
        </p:nvSpPr>
        <p:spPr>
          <a:xfrm>
            <a:off x="694944" y="1005840"/>
            <a:ext cx="10515600" cy="777240"/>
          </a:xfrm>
          <a:prstGeom prst="rect">
            <a:avLst/>
          </a:prstGeom>
          <a:noFill/>
          <a:ln/>
        </p:spPr>
        <p:txBody>
          <a:bodyPr wrap="square" lIns="0" tIns="0" rIns="0" bIns="0" rtlCol="0" anchor="ctr"/>
          <a:lstStyle/>
          <a:p>
            <a:pPr algn="ctr" indent="0" marL="0">
              <a:buNone/>
            </a:pPr>
            <a:r>
              <a:rPr lang="en-US" sz="5200" dirty="0">
                <a:solidFill>
                  <a:srgbClr val="000000"/>
                </a:solidFill>
                <a:latin typeface="Calibri" pitchFamily="34" charset="0"/>
                <a:ea typeface="Calibri" pitchFamily="34" charset="-122"/>
                <a:cs typeface="Calibri" pitchFamily="34" charset="-120"/>
              </a:rPr>
              <a:t>📷</a:t>
            </a:r>
            <a:endParaRPr lang="en-US" sz="5200" dirty="0"/>
          </a:p>
        </p:txBody>
      </p:sp>
      <p:sp>
        <p:nvSpPr>
          <p:cNvPr id="10" name="Text 6"/>
          <p:cNvSpPr txBox="1"/>
          <p:nvPr/>
        </p:nvSpPr>
        <p:spPr>
          <a:xfrm>
            <a:off x="694944" y="1874520"/>
            <a:ext cx="10515600" cy="347472"/>
          </a:xfrm>
          <a:prstGeom prst="rect">
            <a:avLst/>
          </a:prstGeom>
          <a:noFill/>
          <a:ln/>
        </p:spPr>
        <p:txBody>
          <a:bodyPr wrap="square" lIns="0" tIns="0" rIns="0" bIns="0" rtlCol="0" anchor="ctr"/>
          <a:lstStyle/>
          <a:p>
            <a:pPr algn="ctr" indent="0" marL="0">
              <a:buNone/>
            </a:pPr>
            <a:r>
              <a:rPr lang="en-US" sz="1400" b="1" spc="400" kern="0" dirty="0">
                <a:solidFill>
                  <a:srgbClr val="CFFF00"/>
                </a:solidFill>
                <a:latin typeface="Courier New" pitchFamily="34" charset="0"/>
                <a:ea typeface="Courier New" pitchFamily="34" charset="-122"/>
                <a:cs typeface="Courier New" pitchFamily="34" charset="-120"/>
              </a:rPr>
              <a:t>PHOTO</a:t>
            </a:r>
            <a:endParaRPr lang="en-US" sz="1400" dirty="0"/>
          </a:p>
        </p:txBody>
      </p:sp>
      <p:sp>
        <p:nvSpPr>
          <p:cNvPr id="11" name="Text 7"/>
          <p:cNvSpPr txBox="1"/>
          <p:nvPr/>
        </p:nvSpPr>
        <p:spPr>
          <a:xfrm>
            <a:off x="1371600" y="2331720"/>
            <a:ext cx="9144000" cy="12344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Real team photo — or AI-generated?</a:t>
            </a:r>
            <a:endParaRPr lang="en-US" sz="3000" dirty="0"/>
          </a:p>
        </p:txBody>
      </p:sp>
      <p:sp>
        <p:nvSpPr>
          <p:cNvPr id="12" name="Shape 8"/>
          <p:cNvSpPr/>
          <p:nvPr/>
        </p:nvSpPr>
        <p:spPr>
          <a:xfrm>
            <a:off x="2286000" y="3657600"/>
            <a:ext cx="7315200" cy="0"/>
          </a:xfrm>
          <a:prstGeom prst="line">
            <a:avLst/>
          </a:prstGeom>
          <a:noFill/>
          <a:ln w="12700">
            <a:solidFill>
              <a:srgbClr val="334466"/>
            </a:solidFill>
            <a:prstDash val="solid"/>
          </a:ln>
        </p:spPr>
      </p:sp>
      <p:sp>
        <p:nvSpPr>
          <p:cNvPr id="13" name="Text 9"/>
          <p:cNvSpPr txBox="1"/>
          <p:nvPr/>
        </p:nvSpPr>
        <p:spPr>
          <a:xfrm>
            <a:off x="914400" y="3794760"/>
            <a:ext cx="10058400" cy="960120"/>
          </a:xfrm>
          <a:prstGeom prst="rect">
            <a:avLst/>
          </a:prstGeom>
          <a:noFill/>
          <a:ln/>
        </p:spPr>
        <p:txBody>
          <a:bodyPr wrap="square" lIns="0" tIns="0" rIns="0" bIns="0" rtlCol="0" anchor="ctr"/>
          <a:lstStyle/>
          <a:p>
            <a:pPr algn="ctr" indent="0" marL="0">
              <a:buNone/>
            </a:pPr>
            <a:r>
              <a:rPr lang="en-US" sz="1300" dirty="0">
                <a:solidFill>
                  <a:srgbClr val="A9A29A"/>
                </a:solidFill>
                <a:latin typeface="Calibri" pitchFamily="34" charset="0"/>
                <a:ea typeface="Calibri" pitchFamily="34" charset="-122"/>
                <a:cs typeface="Calibri" pitchFamily="34" charset="-120"/>
              </a:rPr>
              <a:t>Show both images side by side. Paste into Teams chat or share a split screen. Vote A or B on 3.</a:t>
            </a:r>
            <a:endParaRPr lang="en-US" sz="1300" dirty="0"/>
          </a:p>
        </p:txBody>
      </p:sp>
      <p:sp>
        <p:nvSpPr>
          <p:cNvPr id="14" name="Text 10"/>
          <p:cNvSpPr txBox="1"/>
          <p:nvPr/>
        </p:nvSpPr>
        <p:spPr>
          <a:xfrm>
            <a:off x="694944" y="4892040"/>
            <a:ext cx="10515600" cy="365760"/>
          </a:xfrm>
          <a:prstGeom prst="rect">
            <a:avLst/>
          </a:prstGeom>
          <a:noFill/>
          <a:ln/>
        </p:spPr>
        <p:txBody>
          <a:bodyPr wrap="square" lIns="0" tIns="0" rIns="0" bIns="0" rtlCol="0" anchor="ctr"/>
          <a:lstStyle/>
          <a:p>
            <a:pPr algn="ctr" indent="0" marL="0">
              <a:buNone/>
            </a:pPr>
            <a:r>
              <a:rPr lang="en-US" sz="1100" b="1" spc="200" kern="0" dirty="0">
                <a:solidFill>
                  <a:srgbClr val="CFFF00"/>
                </a:solidFill>
                <a:latin typeface="Courier New" pitchFamily="34" charset="0"/>
                <a:ea typeface="Courier New" pitchFamily="34" charset="-122"/>
                <a:cs typeface="Courier New" pitchFamily="34" charset="-120"/>
              </a:rPr>
              <a:t>↓  VOTE NOW  ↓</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turing.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38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530352"/>
            <a:ext cx="10515600" cy="292608"/>
          </a:xfrm>
          <a:prstGeom prst="rect">
            <a:avLst/>
          </a:prstGeom>
          <a:noFill/>
          <a:ln/>
        </p:spPr>
        <p:txBody>
          <a:bodyPr wrap="square" lIns="0" tIns="0" rIns="0" bIns="0" rtlCol="0" anchor="ctr"/>
          <a:lstStyle/>
          <a:p>
            <a:pPr algn="ctr" indent="0" marL="0">
              <a:buNone/>
            </a:pPr>
            <a:r>
              <a:rPr lang="en-US" sz="1000" b="1" spc="300" kern="0" dirty="0">
                <a:solidFill>
                  <a:srgbClr val="00D4D8"/>
                </a:solidFill>
                <a:latin typeface="Courier New" pitchFamily="34" charset="0"/>
                <a:ea typeface="Courier New" pitchFamily="34" charset="-122"/>
                <a:cs typeface="Courier New" pitchFamily="34" charset="-120"/>
              </a:rPr>
              <a:t>ROUND 3 OF 4</a:t>
            </a:r>
            <a:endParaRPr lang="en-US" sz="1000" dirty="0"/>
          </a:p>
        </p:txBody>
      </p:sp>
      <p:sp>
        <p:nvSpPr>
          <p:cNvPr id="9" name="Text 5"/>
          <p:cNvSpPr txBox="1"/>
          <p:nvPr/>
        </p:nvSpPr>
        <p:spPr>
          <a:xfrm>
            <a:off x="694944" y="1005840"/>
            <a:ext cx="10515600" cy="777240"/>
          </a:xfrm>
          <a:prstGeom prst="rect">
            <a:avLst/>
          </a:prstGeom>
          <a:noFill/>
          <a:ln/>
        </p:spPr>
        <p:txBody>
          <a:bodyPr wrap="square" lIns="0" tIns="0" rIns="0" bIns="0" rtlCol="0" anchor="ctr"/>
          <a:lstStyle/>
          <a:p>
            <a:pPr algn="ctr" indent="0" marL="0">
              <a:buNone/>
            </a:pPr>
            <a:r>
              <a:rPr lang="en-US" sz="5200" dirty="0">
                <a:solidFill>
                  <a:srgbClr val="000000"/>
                </a:solidFill>
                <a:latin typeface="Calibri" pitchFamily="34" charset="0"/>
                <a:ea typeface="Calibri" pitchFamily="34" charset="-122"/>
                <a:cs typeface="Calibri" pitchFamily="34" charset="-120"/>
              </a:rPr>
              <a:t>🎵</a:t>
            </a:r>
            <a:endParaRPr lang="en-US" sz="5200" dirty="0"/>
          </a:p>
        </p:txBody>
      </p:sp>
      <p:sp>
        <p:nvSpPr>
          <p:cNvPr id="10" name="Text 6"/>
          <p:cNvSpPr txBox="1"/>
          <p:nvPr/>
        </p:nvSpPr>
        <p:spPr>
          <a:xfrm>
            <a:off x="694944" y="1874520"/>
            <a:ext cx="10515600" cy="347472"/>
          </a:xfrm>
          <a:prstGeom prst="rect">
            <a:avLst/>
          </a:prstGeom>
          <a:noFill/>
          <a:ln/>
        </p:spPr>
        <p:txBody>
          <a:bodyPr wrap="square" lIns="0" tIns="0" rIns="0" bIns="0" rtlCol="0" anchor="ctr"/>
          <a:lstStyle/>
          <a:p>
            <a:pPr algn="ctr" indent="0" marL="0">
              <a:buNone/>
            </a:pPr>
            <a:r>
              <a:rPr lang="en-US" sz="1400" b="1" spc="400" kern="0" dirty="0">
                <a:solidFill>
                  <a:srgbClr val="CFFF00"/>
                </a:solidFill>
                <a:latin typeface="Courier New" pitchFamily="34" charset="0"/>
                <a:ea typeface="Courier New" pitchFamily="34" charset="-122"/>
                <a:cs typeface="Courier New" pitchFamily="34" charset="-120"/>
              </a:rPr>
              <a:t>SONG</a:t>
            </a:r>
            <a:endParaRPr lang="en-US" sz="1400" dirty="0"/>
          </a:p>
        </p:txBody>
      </p:sp>
      <p:sp>
        <p:nvSpPr>
          <p:cNvPr id="11" name="Text 7"/>
          <p:cNvSpPr txBox="1"/>
          <p:nvPr/>
        </p:nvSpPr>
        <p:spPr>
          <a:xfrm>
            <a:off x="1371600" y="2331720"/>
            <a:ext cx="9144000" cy="12344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Human-made or Suno AI?</a:t>
            </a:r>
            <a:endParaRPr lang="en-US" sz="3000" dirty="0"/>
          </a:p>
        </p:txBody>
      </p:sp>
      <p:sp>
        <p:nvSpPr>
          <p:cNvPr id="12" name="Shape 8"/>
          <p:cNvSpPr/>
          <p:nvPr/>
        </p:nvSpPr>
        <p:spPr>
          <a:xfrm>
            <a:off x="2286000" y="3657600"/>
            <a:ext cx="7315200" cy="0"/>
          </a:xfrm>
          <a:prstGeom prst="line">
            <a:avLst/>
          </a:prstGeom>
          <a:noFill/>
          <a:ln w="12700">
            <a:solidFill>
              <a:srgbClr val="334466"/>
            </a:solidFill>
            <a:prstDash val="solid"/>
          </a:ln>
        </p:spPr>
      </p:sp>
      <p:sp>
        <p:nvSpPr>
          <p:cNvPr id="13" name="Text 9"/>
          <p:cNvSpPr txBox="1"/>
          <p:nvPr/>
        </p:nvSpPr>
        <p:spPr>
          <a:xfrm>
            <a:off x="914400" y="3794760"/>
            <a:ext cx="10058400" cy="960120"/>
          </a:xfrm>
          <a:prstGeom prst="rect">
            <a:avLst/>
          </a:prstGeom>
          <a:noFill/>
          <a:ln/>
        </p:spPr>
        <p:txBody>
          <a:bodyPr wrap="square" lIns="0" tIns="0" rIns="0" bIns="0" rtlCol="0" anchor="ctr"/>
          <a:lstStyle/>
          <a:p>
            <a:pPr algn="ctr" indent="0" marL="0">
              <a:buNone/>
            </a:pPr>
            <a:r>
              <a:rPr lang="en-US" sz="1300" dirty="0">
                <a:solidFill>
                  <a:srgbClr val="A9A29A"/>
                </a:solidFill>
                <a:latin typeface="Calibri" pitchFamily="34" charset="0"/>
                <a:ea typeface="Calibri" pitchFamily="34" charset="-122"/>
                <a:cs typeface="Calibri" pitchFamily="34" charset="-120"/>
              </a:rPr>
              <a:t>Play both clips back-to-back. ⚠️ Tick 'Include computer sound' in Teams! Vote A or B on 3.</a:t>
            </a:r>
            <a:endParaRPr lang="en-US" sz="1300" dirty="0"/>
          </a:p>
        </p:txBody>
      </p:sp>
      <p:sp>
        <p:nvSpPr>
          <p:cNvPr id="14" name="Text 10"/>
          <p:cNvSpPr txBox="1"/>
          <p:nvPr/>
        </p:nvSpPr>
        <p:spPr>
          <a:xfrm>
            <a:off x="694944" y="4892040"/>
            <a:ext cx="10515600" cy="365760"/>
          </a:xfrm>
          <a:prstGeom prst="rect">
            <a:avLst/>
          </a:prstGeom>
          <a:noFill/>
          <a:ln/>
        </p:spPr>
        <p:txBody>
          <a:bodyPr wrap="square" lIns="0" tIns="0" rIns="0" bIns="0" rtlCol="0" anchor="ctr"/>
          <a:lstStyle/>
          <a:p>
            <a:pPr algn="ctr" indent="0" marL="0">
              <a:buNone/>
            </a:pPr>
            <a:r>
              <a:rPr lang="en-US" sz="1100" b="1" spc="200" kern="0" dirty="0">
                <a:solidFill>
                  <a:srgbClr val="CFFF00"/>
                </a:solidFill>
                <a:latin typeface="Courier New" pitchFamily="34" charset="0"/>
                <a:ea typeface="Courier New" pitchFamily="34" charset="-122"/>
                <a:cs typeface="Courier New" pitchFamily="34" charset="-120"/>
              </a:rPr>
              <a:t>↓  VOTE NOW  ↓</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turing.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38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530352"/>
            <a:ext cx="10515600" cy="292608"/>
          </a:xfrm>
          <a:prstGeom prst="rect">
            <a:avLst/>
          </a:prstGeom>
          <a:noFill/>
          <a:ln/>
        </p:spPr>
        <p:txBody>
          <a:bodyPr wrap="square" lIns="0" tIns="0" rIns="0" bIns="0" rtlCol="0" anchor="ctr"/>
          <a:lstStyle/>
          <a:p>
            <a:pPr algn="ctr" indent="0" marL="0">
              <a:buNone/>
            </a:pPr>
            <a:r>
              <a:rPr lang="en-US" sz="1000" b="1" spc="300" kern="0" dirty="0">
                <a:solidFill>
                  <a:srgbClr val="00D4D8"/>
                </a:solidFill>
                <a:latin typeface="Courier New" pitchFamily="34" charset="0"/>
                <a:ea typeface="Courier New" pitchFamily="34" charset="-122"/>
                <a:cs typeface="Courier New" pitchFamily="34" charset="-120"/>
              </a:rPr>
              <a:t>ROUND 4 OF 4</a:t>
            </a:r>
            <a:endParaRPr lang="en-US" sz="1000" dirty="0"/>
          </a:p>
        </p:txBody>
      </p:sp>
      <p:sp>
        <p:nvSpPr>
          <p:cNvPr id="9" name="Text 5"/>
          <p:cNvSpPr txBox="1"/>
          <p:nvPr/>
        </p:nvSpPr>
        <p:spPr>
          <a:xfrm>
            <a:off x="694944" y="1005840"/>
            <a:ext cx="10515600" cy="777240"/>
          </a:xfrm>
          <a:prstGeom prst="rect">
            <a:avLst/>
          </a:prstGeom>
          <a:noFill/>
          <a:ln/>
        </p:spPr>
        <p:txBody>
          <a:bodyPr wrap="square" lIns="0" tIns="0" rIns="0" bIns="0" rtlCol="0" anchor="ctr"/>
          <a:lstStyle/>
          <a:p>
            <a:pPr algn="ctr" indent="0" marL="0">
              <a:buNone/>
            </a:pPr>
            <a:r>
              <a:rPr lang="en-US" sz="5200" dirty="0">
                <a:solidFill>
                  <a:srgbClr val="000000"/>
                </a:solidFill>
                <a:latin typeface="Calibri" pitchFamily="34" charset="0"/>
                <a:ea typeface="Calibri" pitchFamily="34" charset="-122"/>
                <a:cs typeface="Calibri" pitchFamily="34" charset="-120"/>
              </a:rPr>
              <a:t>🎤</a:t>
            </a:r>
            <a:endParaRPr lang="en-US" sz="5200" dirty="0"/>
          </a:p>
        </p:txBody>
      </p:sp>
      <p:sp>
        <p:nvSpPr>
          <p:cNvPr id="10" name="Text 6"/>
          <p:cNvSpPr txBox="1"/>
          <p:nvPr/>
        </p:nvSpPr>
        <p:spPr>
          <a:xfrm>
            <a:off x="694944" y="1874520"/>
            <a:ext cx="10515600" cy="347472"/>
          </a:xfrm>
          <a:prstGeom prst="rect">
            <a:avLst/>
          </a:prstGeom>
          <a:noFill/>
          <a:ln/>
        </p:spPr>
        <p:txBody>
          <a:bodyPr wrap="square" lIns="0" tIns="0" rIns="0" bIns="0" rtlCol="0" anchor="ctr"/>
          <a:lstStyle/>
          <a:p>
            <a:pPr algn="ctr" indent="0" marL="0">
              <a:buNone/>
            </a:pPr>
            <a:r>
              <a:rPr lang="en-US" sz="1400" b="1" spc="400" kern="0" dirty="0">
                <a:solidFill>
                  <a:srgbClr val="CFFF00"/>
                </a:solidFill>
                <a:latin typeface="Courier New" pitchFamily="34" charset="0"/>
                <a:ea typeface="Courier New" pitchFamily="34" charset="-122"/>
                <a:cs typeface="Courier New" pitchFamily="34" charset="-120"/>
              </a:rPr>
              <a:t>VOICE</a:t>
            </a:r>
            <a:endParaRPr lang="en-US" sz="1400" dirty="0"/>
          </a:p>
        </p:txBody>
      </p:sp>
      <p:sp>
        <p:nvSpPr>
          <p:cNvPr id="11" name="Text 7"/>
          <p:cNvSpPr txBox="1"/>
          <p:nvPr/>
        </p:nvSpPr>
        <p:spPr>
          <a:xfrm>
            <a:off x="1371600" y="2331720"/>
            <a:ext cx="9144000" cy="12344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Real voice — or ElevenLabs clone?</a:t>
            </a:r>
            <a:endParaRPr lang="en-US" sz="3000" dirty="0"/>
          </a:p>
        </p:txBody>
      </p:sp>
      <p:sp>
        <p:nvSpPr>
          <p:cNvPr id="12" name="Shape 8"/>
          <p:cNvSpPr/>
          <p:nvPr/>
        </p:nvSpPr>
        <p:spPr>
          <a:xfrm>
            <a:off x="2286000" y="3657600"/>
            <a:ext cx="7315200" cy="0"/>
          </a:xfrm>
          <a:prstGeom prst="line">
            <a:avLst/>
          </a:prstGeom>
          <a:noFill/>
          <a:ln w="12700">
            <a:solidFill>
              <a:srgbClr val="334466"/>
            </a:solidFill>
            <a:prstDash val="solid"/>
          </a:ln>
        </p:spPr>
      </p:sp>
      <p:sp>
        <p:nvSpPr>
          <p:cNvPr id="13" name="Text 9"/>
          <p:cNvSpPr txBox="1"/>
          <p:nvPr/>
        </p:nvSpPr>
        <p:spPr>
          <a:xfrm>
            <a:off x="914400" y="3794760"/>
            <a:ext cx="10058400" cy="960120"/>
          </a:xfrm>
          <a:prstGeom prst="rect">
            <a:avLst/>
          </a:prstGeom>
          <a:noFill/>
          <a:ln/>
        </p:spPr>
        <p:txBody>
          <a:bodyPr wrap="square" lIns="0" tIns="0" rIns="0" bIns="0" rtlCol="0" anchor="ctr"/>
          <a:lstStyle/>
          <a:p>
            <a:pPr algn="ctr" indent="0" marL="0">
              <a:buNone/>
            </a:pPr>
            <a:r>
              <a:rPr lang="en-US" sz="1300" dirty="0">
                <a:solidFill>
                  <a:srgbClr val="A9A29A"/>
                </a:solidFill>
                <a:latin typeface="Calibri" pitchFamily="34" charset="0"/>
                <a:ea typeface="Calibri" pitchFamily="34" charset="-122"/>
                <a:cs typeface="Calibri" pitchFamily="34" charset="-120"/>
              </a:rPr>
              <a:t>Play both recordings. Vote A or B on 3. No pressure — this one fools everyone.</a:t>
            </a:r>
            <a:endParaRPr lang="en-US" sz="1300" dirty="0"/>
          </a:p>
        </p:txBody>
      </p:sp>
      <p:sp>
        <p:nvSpPr>
          <p:cNvPr id="14" name="Text 10"/>
          <p:cNvSpPr txBox="1"/>
          <p:nvPr/>
        </p:nvSpPr>
        <p:spPr>
          <a:xfrm>
            <a:off x="694944" y="4892040"/>
            <a:ext cx="10515600" cy="365760"/>
          </a:xfrm>
          <a:prstGeom prst="rect">
            <a:avLst/>
          </a:prstGeom>
          <a:noFill/>
          <a:ln/>
        </p:spPr>
        <p:txBody>
          <a:bodyPr wrap="square" lIns="0" tIns="0" rIns="0" bIns="0" rtlCol="0" anchor="ctr"/>
          <a:lstStyle/>
          <a:p>
            <a:pPr algn="ctr" indent="0" marL="0">
              <a:buNone/>
            </a:pPr>
            <a:r>
              <a:rPr lang="en-US" sz="1100" b="1" spc="200" kern="0" dirty="0">
                <a:solidFill>
                  <a:srgbClr val="CFFF00"/>
                </a:solidFill>
                <a:latin typeface="Courier New" pitchFamily="34" charset="0"/>
                <a:ea typeface="Courier New" pitchFamily="34" charset="-122"/>
                <a:cs typeface="Courier New" pitchFamily="34" charset="-120"/>
              </a:rPr>
              <a:t>↓  VOTE NOW  ↓</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punchline.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50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2194560"/>
            <a:ext cx="10515600" cy="2286000"/>
          </a:xfrm>
          <a:prstGeom prst="rect">
            <a:avLst/>
          </a:prstGeom>
          <a:noFill/>
          <a:ln/>
        </p:spPr>
        <p:txBody>
          <a:bodyPr wrap="square" lIns="0" tIns="0" rIns="0" bIns="0" rtlCol="0" anchor="ctr"/>
          <a:lstStyle/>
          <a:p>
            <a:pPr algn="ctr" indent="0" marL="0">
              <a:buNone/>
            </a:pPr>
            <a:r>
              <a:rPr lang="en-US" sz="3200" i="1" dirty="0">
                <a:solidFill>
                  <a:srgbClr val="FFFFFF"/>
                </a:solidFill>
                <a:latin typeface="Georgia" pitchFamily="34" charset="0"/>
                <a:ea typeface="Georgia" pitchFamily="34" charset="-122"/>
                <a:cs typeface="Georgia" pitchFamily="34" charset="-120"/>
              </a:rPr>
              <a:t>You'll never know if this deck was made by a human or an agent…</a:t>
            </a:r>
            <a:endParaRPr lang="en-US" sz="3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divider.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55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731520"/>
            <a:ext cx="1645920" cy="1645920"/>
          </a:xfrm>
          <a:prstGeom prst="rect">
            <a:avLst/>
          </a:prstGeom>
          <a:noFill/>
          <a:ln/>
        </p:spPr>
        <p:txBody>
          <a:bodyPr wrap="square" lIns="0" tIns="0" rIns="0" bIns="0" rtlCol="0" anchor="ctr"/>
          <a:lstStyle/>
          <a:p>
            <a:pPr algn="l" indent="0" marL="0">
              <a:buNone/>
            </a:pPr>
            <a:r>
              <a:rPr lang="en-US" sz="8000" b="1" dirty="0">
                <a:solidFill>
                  <a:srgbClr val="00D4D8"/>
                </a:solidFill>
                <a:latin typeface="Arial" pitchFamily="34" charset="0"/>
                <a:ea typeface="Arial" pitchFamily="34" charset="-122"/>
                <a:cs typeface="Arial" pitchFamily="34" charset="-120"/>
              </a:rPr>
              <a:t>★</a:t>
            </a:r>
            <a:endParaRPr lang="en-US" sz="8000" dirty="0"/>
          </a:p>
        </p:txBody>
      </p:sp>
      <p:sp>
        <p:nvSpPr>
          <p:cNvPr id="9" name="Text 5"/>
          <p:cNvSpPr txBox="1"/>
          <p:nvPr/>
        </p:nvSpPr>
        <p:spPr>
          <a:xfrm>
            <a:off x="694944" y="2468880"/>
            <a:ext cx="9601200" cy="91440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Shout Outs</a:t>
            </a:r>
            <a:endParaRPr lang="en-US" sz="4000" dirty="0"/>
          </a:p>
        </p:txBody>
      </p:sp>
      <p:sp>
        <p:nvSpPr>
          <p:cNvPr id="10" name="Text 6"/>
          <p:cNvSpPr txBox="1"/>
          <p:nvPr/>
        </p:nvSpPr>
        <p:spPr>
          <a:xfrm>
            <a:off x="694944" y="3566160"/>
            <a:ext cx="9601200" cy="146304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[SHOUTOUT_1_PLACEHOLDER] · [SHOUTOUT_2_PLACEHOLDER] · [SHOUTOUT_3_PLACEHOLDER]</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divider.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55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731520"/>
            <a:ext cx="1645920" cy="1645920"/>
          </a:xfrm>
          <a:prstGeom prst="rect">
            <a:avLst/>
          </a:prstGeom>
          <a:noFill/>
          <a:ln/>
        </p:spPr>
        <p:txBody>
          <a:bodyPr wrap="square" lIns="0" tIns="0" rIns="0" bIns="0" rtlCol="0" anchor="ctr"/>
          <a:lstStyle/>
          <a:p>
            <a:pPr algn="l" indent="0" marL="0">
              <a:buNone/>
            </a:pPr>
            <a:r>
              <a:rPr lang="en-US" sz="8000" b="1" dirty="0">
                <a:solidFill>
                  <a:srgbClr val="CFFF00"/>
                </a:solidFill>
                <a:latin typeface="Arial" pitchFamily="34" charset="0"/>
                <a:ea typeface="Arial" pitchFamily="34" charset="-122"/>
                <a:cs typeface="Arial" pitchFamily="34" charset="-120"/>
              </a:rPr>
              <a:t>◆</a:t>
            </a:r>
            <a:endParaRPr lang="en-US" sz="8000" dirty="0"/>
          </a:p>
        </p:txBody>
      </p:sp>
      <p:sp>
        <p:nvSpPr>
          <p:cNvPr id="9" name="Text 5"/>
          <p:cNvSpPr txBox="1"/>
          <p:nvPr/>
        </p:nvSpPr>
        <p:spPr>
          <a:xfrm>
            <a:off x="694944" y="2468880"/>
            <a:ext cx="9601200" cy="91440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Black Diamond Awards</a:t>
            </a:r>
            <a:endParaRPr lang="en-US" sz="4000" dirty="0"/>
          </a:p>
        </p:txBody>
      </p:sp>
      <p:sp>
        <p:nvSpPr>
          <p:cNvPr id="10" name="Text 6"/>
          <p:cNvSpPr txBox="1"/>
          <p:nvPr/>
        </p:nvSpPr>
        <p:spPr>
          <a:xfrm>
            <a:off x="694944" y="3566160"/>
            <a:ext cx="9601200" cy="146304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Recognize excellence in client delivery and community. Deadline: September 11, 2026.</a:t>
            </a:r>
            <a:endParaRPr lang="en-US" sz="1600" dirty="0"/>
          </a:p>
        </p:txBody>
      </p:sp>
      <p:sp>
        <p:nvSpPr>
          <p:cNvPr id="11" name="Shape 7"/>
          <p:cNvSpPr/>
          <p:nvPr/>
        </p:nvSpPr>
        <p:spPr>
          <a:xfrm>
            <a:off x="694944" y="5029200"/>
            <a:ext cx="3200400" cy="548640"/>
          </a:xfrm>
          <a:prstGeom prst="rect">
            <a:avLst/>
          </a:prstGeom>
          <a:solidFill>
            <a:srgbClr val="CFFF00"/>
          </a:solidFill>
          <a:ln/>
        </p:spPr>
      </p:sp>
      <p:sp>
        <p:nvSpPr>
          <p:cNvPr id="12" name="Text 8">
            <a:hlinkClick r:id="rId3" tooltip=""/>
          </p:cNvPr>
          <p:cNvSpPr txBox="1"/>
          <p:nvPr/>
        </p:nvSpPr>
        <p:spPr>
          <a:xfrm>
            <a:off x="694944" y="5029200"/>
            <a:ext cx="3200400" cy="548640"/>
          </a:xfrm>
          <a:prstGeom prst="rect">
            <a:avLst/>
          </a:prstGeom>
          <a:noFill/>
          <a:ln/>
        </p:spPr>
        <p:txBody>
          <a:bodyPr wrap="square" lIns="0" tIns="0" rIns="0" bIns="0" rtlCol="0" anchor="ctr"/>
          <a:lstStyle/>
          <a:p>
            <a:pPr algn="ctr" indent="0" marL="0">
              <a:buNone/>
            </a:pPr>
            <a:r>
              <a:rPr lang="en-US" sz="1400" b="1" u="sng" dirty="0">
                <a:solidFill>
                  <a:srgbClr val="151515"/>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SUBMIT HERE →</a:t>
            </a:r>
            <a:endParaRPr lang="en-US" sz="1400" dirty="0"/>
          </a:p>
        </p:txBody>
      </p:sp>
      <p:sp>
        <p:nvSpPr>
          <p:cNvPr id="13" name="Text 9"/>
          <p:cNvSpPr txBox="1"/>
          <p:nvPr/>
        </p:nvSpPr>
        <p:spPr>
          <a:xfrm>
            <a:off x="694944" y="5760720"/>
            <a:ext cx="10515600" cy="320040"/>
          </a:xfrm>
          <a:prstGeom prst="rect">
            <a:avLst/>
          </a:prstGeom>
          <a:noFill/>
          <a:ln/>
        </p:spPr>
        <p:txBody>
          <a:bodyPr wrap="square" lIns="0" tIns="0" rIns="0" bIns="0" rtlCol="0" anchor="t"/>
          <a:lstStyle/>
          <a:p>
            <a:pPr algn="l" indent="0" marL="0">
              <a:buNone/>
            </a:pPr>
            <a:r>
              <a:rPr lang="en-US" sz="1200" dirty="0">
                <a:solidFill>
                  <a:srgbClr val="A9A29A"/>
                </a:solidFill>
                <a:latin typeface="Calibri" pitchFamily="34" charset="0"/>
                <a:ea typeface="Calibri" pitchFamily="34" charset="-122"/>
                <a:cs typeface="Calibri" pitchFamily="34" charset="-120"/>
              </a:rPr>
              <a:t>Awards ceremony: December 2026</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divider.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55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731520"/>
            <a:ext cx="1645920" cy="1645920"/>
          </a:xfrm>
          <a:prstGeom prst="rect">
            <a:avLst/>
          </a:prstGeom>
          <a:noFill/>
          <a:ln/>
        </p:spPr>
        <p:txBody>
          <a:bodyPr wrap="square" lIns="0" tIns="0" rIns="0" bIns="0" rtlCol="0" anchor="ctr"/>
          <a:lstStyle/>
          <a:p>
            <a:pPr algn="l" indent="0" marL="0">
              <a:buNone/>
            </a:pPr>
            <a:r>
              <a:rPr lang="en-US" sz="8000" b="1" dirty="0">
                <a:solidFill>
                  <a:srgbClr val="FF4F7B"/>
                </a:solidFill>
                <a:latin typeface="Arial" pitchFamily="34" charset="0"/>
                <a:ea typeface="Arial" pitchFamily="34" charset="-122"/>
                <a:cs typeface="Arial" pitchFamily="34" charset="-120"/>
              </a:rPr>
              <a:t>◉</a:t>
            </a:r>
            <a:endParaRPr lang="en-US" sz="8000" dirty="0"/>
          </a:p>
        </p:txBody>
      </p:sp>
      <p:sp>
        <p:nvSpPr>
          <p:cNvPr id="9" name="Text 5"/>
          <p:cNvSpPr txBox="1"/>
          <p:nvPr/>
        </p:nvSpPr>
        <p:spPr>
          <a:xfrm>
            <a:off x="694944" y="2468880"/>
            <a:ext cx="9601200" cy="91440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Work Spotlights</a:t>
            </a:r>
            <a:endParaRPr lang="en-US" sz="4000" dirty="0"/>
          </a:p>
        </p:txBody>
      </p:sp>
      <p:sp>
        <p:nvSpPr>
          <p:cNvPr id="10" name="Text 6"/>
          <p:cNvSpPr txBox="1"/>
          <p:nvPr/>
        </p:nvSpPr>
        <p:spPr>
          <a:xfrm>
            <a:off x="694944" y="3566160"/>
            <a:ext cx="9601200" cy="146304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[SPOTLIGHT_PROJECT_PLACEHOLDER] · [SPOTLIGHT_CONTACT_PLACEHOLDER]</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divider.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45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1371600"/>
            <a:ext cx="9601200" cy="91440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Summit Methodology Demo</a:t>
            </a:r>
            <a:endParaRPr lang="en-US" sz="3600" dirty="0"/>
          </a:p>
        </p:txBody>
      </p:sp>
      <p:sp>
        <p:nvSpPr>
          <p:cNvPr id="9" name="Text 5"/>
          <p:cNvSpPr txBox="1"/>
          <p:nvPr/>
        </p:nvSpPr>
        <p:spPr>
          <a:xfrm>
            <a:off x="694944" y="2560320"/>
            <a:ext cx="9601200" cy="146304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Presenter: [PRESENTER_PLACEHOLDER] · Topic: [DEMO_TOPIC_PLACEHOLDER]</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divider.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60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731520"/>
            <a:ext cx="1645920" cy="1645920"/>
          </a:xfrm>
          <a:prstGeom prst="rect">
            <a:avLst/>
          </a:prstGeom>
          <a:noFill/>
          <a:ln/>
        </p:spPr>
        <p:txBody>
          <a:bodyPr wrap="square" lIns="0" tIns="0" rIns="0" bIns="0" rtlCol="0" anchor="ctr"/>
          <a:lstStyle/>
          <a:p>
            <a:pPr algn="l" indent="0" marL="0">
              <a:buNone/>
            </a:pPr>
            <a:r>
              <a:rPr lang="en-US" sz="8000" b="1" dirty="0">
                <a:solidFill>
                  <a:srgbClr val="00D4D8"/>
                </a:solidFill>
                <a:latin typeface="Arial" pitchFamily="34" charset="0"/>
                <a:ea typeface="Arial" pitchFamily="34" charset="-122"/>
                <a:cs typeface="Arial" pitchFamily="34" charset="-120"/>
              </a:rPr>
              <a:t>✓</a:t>
            </a:r>
            <a:endParaRPr lang="en-US" sz="8000" dirty="0"/>
          </a:p>
        </p:txBody>
      </p:sp>
      <p:sp>
        <p:nvSpPr>
          <p:cNvPr id="9" name="Text 5"/>
          <p:cNvSpPr txBox="1"/>
          <p:nvPr/>
        </p:nvSpPr>
        <p:spPr>
          <a:xfrm>
            <a:off x="694944" y="2331720"/>
            <a:ext cx="9601200" cy="73152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State of the Business</a:t>
            </a:r>
            <a:endParaRPr lang="en-US" sz="4000" dirty="0"/>
          </a:p>
        </p:txBody>
      </p:sp>
      <p:sp>
        <p:nvSpPr>
          <p:cNvPr id="10" name="Shape 6"/>
          <p:cNvSpPr/>
          <p:nvPr/>
        </p:nvSpPr>
        <p:spPr>
          <a:xfrm>
            <a:off x="694944" y="3200400"/>
            <a:ext cx="5303520" cy="1280160"/>
          </a:xfrm>
          <a:prstGeom prst="rect">
            <a:avLst/>
          </a:prstGeom>
          <a:solidFill>
            <a:srgbClr val="0B1F44">
              <a:alpha val="80000"/>
            </a:srgbClr>
          </a:solidFill>
          <a:ln w="9525">
            <a:solidFill>
              <a:srgbClr val="00D4D8">
                <a:alpha val="40000"/>
              </a:srgbClr>
            </a:solidFill>
            <a:prstDash val="solid"/>
          </a:ln>
        </p:spPr>
      </p:sp>
      <p:sp>
        <p:nvSpPr>
          <p:cNvPr id="11" name="Text 7"/>
          <p:cNvSpPr txBox="1"/>
          <p:nvPr/>
        </p:nvSpPr>
        <p:spPr>
          <a:xfrm>
            <a:off x="923544" y="3310128"/>
            <a:ext cx="4846320" cy="685800"/>
          </a:xfrm>
          <a:prstGeom prst="rect">
            <a:avLst/>
          </a:prstGeom>
          <a:noFill/>
          <a:ln/>
        </p:spPr>
        <p:txBody>
          <a:bodyPr wrap="none" lIns="0" tIns="0" rIns="0" bIns="0" rtlCol="0" anchor="ctr"/>
          <a:lstStyle/>
          <a:p>
            <a:pPr indent="0" marL="0">
              <a:buNone/>
            </a:pPr>
            <a:r>
              <a:rPr lang="en-US" sz="2800" b="1" dirty="0">
                <a:solidFill>
                  <a:srgbClr val="CFFF00"/>
                </a:solidFill>
                <a:latin typeface="Arial" pitchFamily="34" charset="0"/>
                <a:ea typeface="Arial" pitchFamily="34" charset="-122"/>
                <a:cs typeface="Arial" pitchFamily="34" charset="-120"/>
              </a:rPr>
              <a:t>[METRIC_PLACEHOLDER]</a:t>
            </a:r>
            <a:endParaRPr lang="en-US" sz="2800" dirty="0"/>
          </a:p>
        </p:txBody>
      </p:sp>
      <p:sp>
        <p:nvSpPr>
          <p:cNvPr id="12" name="Text 8"/>
          <p:cNvSpPr txBox="1"/>
          <p:nvPr/>
        </p:nvSpPr>
        <p:spPr>
          <a:xfrm>
            <a:off x="923544" y="4005072"/>
            <a:ext cx="4846320" cy="32004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YTD Revenue</a:t>
            </a:r>
            <a:endParaRPr lang="en-US" sz="1200" dirty="0"/>
          </a:p>
        </p:txBody>
      </p:sp>
      <p:sp>
        <p:nvSpPr>
          <p:cNvPr id="13" name="Shape 9"/>
          <p:cNvSpPr/>
          <p:nvPr/>
        </p:nvSpPr>
        <p:spPr>
          <a:xfrm>
            <a:off x="6400800" y="3200400"/>
            <a:ext cx="5303520" cy="1280160"/>
          </a:xfrm>
          <a:prstGeom prst="rect">
            <a:avLst/>
          </a:prstGeom>
          <a:solidFill>
            <a:srgbClr val="0B1F44">
              <a:alpha val="80000"/>
            </a:srgbClr>
          </a:solidFill>
          <a:ln w="9525">
            <a:solidFill>
              <a:srgbClr val="00D4D8">
                <a:alpha val="40000"/>
              </a:srgbClr>
            </a:solidFill>
            <a:prstDash val="solid"/>
          </a:ln>
        </p:spPr>
      </p:sp>
      <p:sp>
        <p:nvSpPr>
          <p:cNvPr id="14" name="Text 10"/>
          <p:cNvSpPr txBox="1"/>
          <p:nvPr/>
        </p:nvSpPr>
        <p:spPr>
          <a:xfrm>
            <a:off x="6629400" y="3310128"/>
            <a:ext cx="4846320" cy="685800"/>
          </a:xfrm>
          <a:prstGeom prst="rect">
            <a:avLst/>
          </a:prstGeom>
          <a:noFill/>
          <a:ln/>
        </p:spPr>
        <p:txBody>
          <a:bodyPr wrap="none" lIns="0" tIns="0" rIns="0" bIns="0" rtlCol="0" anchor="ctr"/>
          <a:lstStyle/>
          <a:p>
            <a:pPr indent="0" marL="0">
              <a:buNone/>
            </a:pPr>
            <a:r>
              <a:rPr lang="en-US" sz="2800" b="1" dirty="0">
                <a:solidFill>
                  <a:srgbClr val="CFFF00"/>
                </a:solidFill>
                <a:latin typeface="Arial" pitchFamily="34" charset="0"/>
                <a:ea typeface="Arial" pitchFamily="34" charset="-122"/>
                <a:cs typeface="Arial" pitchFamily="34" charset="-120"/>
              </a:rPr>
              <a:t>[METRIC_PLACEHOLDER]</a:t>
            </a:r>
            <a:endParaRPr lang="en-US" sz="2800" dirty="0"/>
          </a:p>
        </p:txBody>
      </p:sp>
      <p:sp>
        <p:nvSpPr>
          <p:cNvPr id="15" name="Text 11"/>
          <p:cNvSpPr txBox="1"/>
          <p:nvPr/>
        </p:nvSpPr>
        <p:spPr>
          <a:xfrm>
            <a:off x="6629400" y="4005072"/>
            <a:ext cx="4846320" cy="32004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Utilization</a:t>
            </a:r>
            <a:endParaRPr lang="en-US" sz="1200" dirty="0"/>
          </a:p>
        </p:txBody>
      </p:sp>
      <p:sp>
        <p:nvSpPr>
          <p:cNvPr id="16" name="Shape 12"/>
          <p:cNvSpPr/>
          <p:nvPr/>
        </p:nvSpPr>
        <p:spPr>
          <a:xfrm>
            <a:off x="694944" y="4754880"/>
            <a:ext cx="5303520" cy="1280160"/>
          </a:xfrm>
          <a:prstGeom prst="rect">
            <a:avLst/>
          </a:prstGeom>
          <a:solidFill>
            <a:srgbClr val="0B1F44">
              <a:alpha val="80000"/>
            </a:srgbClr>
          </a:solidFill>
          <a:ln w="9525">
            <a:solidFill>
              <a:srgbClr val="00D4D8">
                <a:alpha val="40000"/>
              </a:srgbClr>
            </a:solidFill>
            <a:prstDash val="solid"/>
          </a:ln>
        </p:spPr>
      </p:sp>
      <p:sp>
        <p:nvSpPr>
          <p:cNvPr id="17" name="Text 13"/>
          <p:cNvSpPr txBox="1"/>
          <p:nvPr/>
        </p:nvSpPr>
        <p:spPr>
          <a:xfrm>
            <a:off x="923544" y="4864608"/>
            <a:ext cx="4846320" cy="685800"/>
          </a:xfrm>
          <a:prstGeom prst="rect">
            <a:avLst/>
          </a:prstGeom>
          <a:noFill/>
          <a:ln/>
        </p:spPr>
        <p:txBody>
          <a:bodyPr wrap="none" lIns="0" tIns="0" rIns="0" bIns="0" rtlCol="0" anchor="ctr"/>
          <a:lstStyle/>
          <a:p>
            <a:pPr indent="0" marL="0">
              <a:buNone/>
            </a:pPr>
            <a:r>
              <a:rPr lang="en-US" sz="2800" b="1" dirty="0">
                <a:solidFill>
                  <a:srgbClr val="CFFF00"/>
                </a:solidFill>
                <a:latin typeface="Arial" pitchFamily="34" charset="0"/>
                <a:ea typeface="Arial" pitchFamily="34" charset="-122"/>
                <a:cs typeface="Arial" pitchFamily="34" charset="-120"/>
              </a:rPr>
              <a:t>[METRIC_PLACEHOLDER]</a:t>
            </a:r>
            <a:endParaRPr lang="en-US" sz="2800" dirty="0"/>
          </a:p>
        </p:txBody>
      </p:sp>
      <p:sp>
        <p:nvSpPr>
          <p:cNvPr id="18" name="Text 14"/>
          <p:cNvSpPr txBox="1"/>
          <p:nvPr/>
        </p:nvSpPr>
        <p:spPr>
          <a:xfrm>
            <a:off x="923544" y="5559552"/>
            <a:ext cx="4846320" cy="32004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Run Rate</a:t>
            </a:r>
            <a:endParaRPr lang="en-US" sz="1200" dirty="0"/>
          </a:p>
        </p:txBody>
      </p:sp>
      <p:sp>
        <p:nvSpPr>
          <p:cNvPr id="19" name="Shape 15"/>
          <p:cNvSpPr/>
          <p:nvPr/>
        </p:nvSpPr>
        <p:spPr>
          <a:xfrm>
            <a:off x="6400800" y="4754880"/>
            <a:ext cx="5303520" cy="1280160"/>
          </a:xfrm>
          <a:prstGeom prst="rect">
            <a:avLst/>
          </a:prstGeom>
          <a:solidFill>
            <a:srgbClr val="0B1F44">
              <a:alpha val="80000"/>
            </a:srgbClr>
          </a:solidFill>
          <a:ln w="9525">
            <a:solidFill>
              <a:srgbClr val="00D4D8">
                <a:alpha val="40000"/>
              </a:srgbClr>
            </a:solidFill>
            <a:prstDash val="solid"/>
          </a:ln>
        </p:spPr>
      </p:sp>
      <p:sp>
        <p:nvSpPr>
          <p:cNvPr id="20" name="Text 16"/>
          <p:cNvSpPr txBox="1"/>
          <p:nvPr/>
        </p:nvSpPr>
        <p:spPr>
          <a:xfrm>
            <a:off x="6629400" y="4864608"/>
            <a:ext cx="4846320" cy="685800"/>
          </a:xfrm>
          <a:prstGeom prst="rect">
            <a:avLst/>
          </a:prstGeom>
          <a:noFill/>
          <a:ln/>
        </p:spPr>
        <p:txBody>
          <a:bodyPr wrap="none" lIns="0" tIns="0" rIns="0" bIns="0" rtlCol="0" anchor="ctr"/>
          <a:lstStyle/>
          <a:p>
            <a:pPr indent="0" marL="0">
              <a:buNone/>
            </a:pPr>
            <a:r>
              <a:rPr lang="en-US" sz="2800" b="1" dirty="0">
                <a:solidFill>
                  <a:srgbClr val="CFFF00"/>
                </a:solidFill>
                <a:latin typeface="Arial" pitchFamily="34" charset="0"/>
                <a:ea typeface="Arial" pitchFamily="34" charset="-122"/>
                <a:cs typeface="Arial" pitchFamily="34" charset="-120"/>
              </a:rPr>
              <a:t>[METRIC_PLACEHOLDER]</a:t>
            </a:r>
            <a:endParaRPr lang="en-US" sz="2800" dirty="0"/>
          </a:p>
        </p:txBody>
      </p:sp>
      <p:sp>
        <p:nvSpPr>
          <p:cNvPr id="21" name="Text 17"/>
          <p:cNvSpPr txBox="1"/>
          <p:nvPr/>
        </p:nvSpPr>
        <p:spPr>
          <a:xfrm>
            <a:off x="6629400" y="5559552"/>
            <a:ext cx="4846320" cy="32004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Projected Utilization</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divider.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55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1005840"/>
            <a:ext cx="9601200" cy="82296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Wrap Up</a:t>
            </a:r>
            <a:endParaRPr lang="en-US" sz="4000" dirty="0"/>
          </a:p>
        </p:txBody>
      </p:sp>
      <p:sp>
        <p:nvSpPr>
          <p:cNvPr id="9" name="Text 5"/>
          <p:cNvSpPr txBox="1"/>
          <p:nvPr/>
        </p:nvSpPr>
        <p:spPr>
          <a:xfrm>
            <a:off x="694944" y="2194560"/>
            <a:ext cx="9601200" cy="2011680"/>
          </a:xfrm>
          <a:prstGeom prst="rect">
            <a:avLst/>
          </a:prstGeom>
          <a:noFill/>
          <a:ln/>
        </p:spPr>
        <p:txBody>
          <a:bodyPr wrap="square" lIns="0" tIns="0" rIns="0" bIns="0" rtlCol="0" anchor="t"/>
          <a:lstStyle/>
          <a:p>
            <a:pPr indent="0" marL="0">
              <a:spcAft>
                <a:spcPts val="800"/>
              </a:spcAft>
              <a:buNone/>
            </a:pPr>
            <a:r>
              <a:rPr lang="en-US" sz="1600" dirty="0">
                <a:solidFill>
                  <a:srgbClr val="FFFFFF"/>
                </a:solidFill>
                <a:latin typeface="Calibri" pitchFamily="34" charset="0"/>
                <a:ea typeface="Calibri" pitchFamily="34" charset="-122"/>
                <a:cs typeface="Calibri" pitchFamily="34" charset="-120"/>
              </a:rPr>
              <a:t>Thanks for joining!</a:t>
            </a:r>
            <a:endParaRPr lang="en-US" sz="1600" dirty="0"/>
          </a:p>
          <a:p>
            <a:pPr indent="0" marL="0">
              <a:spcAft>
                <a:spcPts val="800"/>
              </a:spcAft>
              <a:buNone/>
            </a:pPr>
            <a:r>
              <a:rPr lang="en-US" sz="1600" dirty="0">
                <a:solidFill>
                  <a:srgbClr val="FFFFFF"/>
                </a:solidFill>
                <a:latin typeface="Calibri" pitchFamily="34" charset="0"/>
                <a:ea typeface="Calibri" pitchFamily="34" charset="-122"/>
                <a:cs typeface="Calibri" pitchFamily="34" charset="-120"/>
              </a:rPr>
              <a:t>Next call: [NEXT_DATE_PLACEHOLDER]</a:t>
            </a:r>
            <a:endParaRPr lang="en-US" sz="1600" dirty="0"/>
          </a:p>
          <a:p>
            <a:pPr indent="0" marL="0">
              <a:spcAft>
                <a:spcPts val="800"/>
              </a:spcAft>
              <a:buNone/>
            </a:pPr>
            <a:r>
              <a:rPr lang="en-US" sz="1600" dirty="0">
                <a:solidFill>
                  <a:srgbClr val="FFFFFF"/>
                </a:solidFill>
                <a:latin typeface="Calibri" pitchFamily="34" charset="0"/>
                <a:ea typeface="Calibri" pitchFamily="34" charset="-122"/>
                <a:cs typeface="Calibri" pitchFamily="34" charset="-120"/>
              </a:rPr>
              <a:t>Hosts: [NEXT_HOSTS_PLACEHOLDER]</a:t>
            </a:r>
            <a:endParaRPr lang="en-US" sz="1600" dirty="0"/>
          </a:p>
        </p:txBody>
      </p:sp>
      <p:sp>
        <p:nvSpPr>
          <p:cNvPr id="10" name="Text 6"/>
          <p:cNvSpPr txBox="1"/>
          <p:nvPr/>
        </p:nvSpPr>
        <p:spPr>
          <a:xfrm>
            <a:off x="694944" y="4572000"/>
            <a:ext cx="9601200" cy="457200"/>
          </a:xfrm>
          <a:prstGeom prst="rect">
            <a:avLst/>
          </a:prstGeom>
          <a:noFill/>
          <a:ln/>
        </p:spPr>
        <p:txBody>
          <a:bodyPr wrap="square" lIns="0" tIns="0" rIns="0" bIns="0" rtlCol="0" anchor="ctr"/>
          <a:lstStyle/>
          <a:p>
            <a:pPr indent="0" marL="0">
              <a:buNone/>
            </a:pPr>
            <a:r>
              <a:rPr lang="en-US" sz="2000" b="1" dirty="0">
                <a:solidFill>
                  <a:srgbClr val="CFFF00"/>
                </a:solidFill>
                <a:latin typeface="Arial" pitchFamily="34" charset="0"/>
                <a:ea typeface="Arial" pitchFamily="34" charset="-122"/>
                <a:cs typeface="Arial" pitchFamily="34" charset="-120"/>
              </a:rPr>
              <a:t>SPIN TO SELECT NEXT HOSTS →</a:t>
            </a:r>
            <a:endParaRPr lang="en-US" sz="2000" dirty="0"/>
          </a:p>
        </p:txBody>
      </p:sp>
      <p:sp>
        <p:nvSpPr>
          <p:cNvPr id="11" name="Text 7"/>
          <p:cNvSpPr txBox="1"/>
          <p:nvPr/>
        </p:nvSpPr>
        <p:spPr>
          <a:xfrm>
            <a:off x="694944" y="5074920"/>
            <a:ext cx="10515600" cy="320040"/>
          </a:xfrm>
          <a:prstGeom prst="rect">
            <a:avLst/>
          </a:prstGeom>
          <a:noFill/>
          <a:ln/>
        </p:spPr>
        <p:txBody>
          <a:bodyPr wrap="square" lIns="0" tIns="0" rIns="0" bIns="0" rtlCol="0" anchor="t"/>
          <a:lstStyle/>
          <a:p>
            <a:pPr algn="l" indent="0" marL="0">
              <a:buNone/>
            </a:pPr>
            <a:r>
              <a:rPr lang="en-US" sz="1200" dirty="0">
                <a:solidFill>
                  <a:srgbClr val="A9A29A"/>
                </a:solidFill>
                <a:latin typeface="Calibri" pitchFamily="34" charset="0"/>
                <a:ea typeface="Calibri" pitchFamily="34" charset="-122"/>
                <a:cs typeface="Calibri" pitchFamily="34" charset="-120"/>
              </a:rPr>
              <a:t>[WHEEL_URL_PLACEHOLDER]</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Slalom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Agents or Overlords</dc:title>
  <dc:subject>PptxGenJS Presentation</dc:subject>
  <dc:creator>Slalom CX</dc:creator>
  <cp:lastModifiedBy>Slalom CX</cp:lastModifiedBy>
  <cp:revision>1</cp:revision>
  <dcterms:created xsi:type="dcterms:W3CDTF">2026-09-11T04:37:36Z</dcterms:created>
  <dcterms:modified xsi:type="dcterms:W3CDTF">2026-09-11T04:37:36Z</dcterms:modified>
</cp:coreProperties>
</file>